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1414"/>
    <a:srgbClr val="163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25" autoAdjust="0"/>
  </p:normalViewPr>
  <p:slideViewPr>
    <p:cSldViewPr snapToGrid="0">
      <p:cViewPr>
        <p:scale>
          <a:sx n="33" d="100"/>
          <a:sy n="33" d="100"/>
        </p:scale>
        <p:origin x="1734" y="-1740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64527-7922-4BDC-A365-F61096D06B76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8A517-F635-414F-B36B-6127E598B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2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8A517-F635-414F-B36B-6127E598B0D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0459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460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416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46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29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75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91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36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144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1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26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AFBBC-4535-4D6F-96E1-C6FC08CDFB29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33124-6891-4C96-A31A-10A31540D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019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jpe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D0E1FC04-4F77-AF9C-0B8A-3CE26FC68CA0}"/>
              </a:ext>
            </a:extLst>
          </p:cNvPr>
          <p:cNvCxnSpPr>
            <a:cxnSpLocks/>
          </p:cNvCxnSpPr>
          <p:nvPr/>
        </p:nvCxnSpPr>
        <p:spPr>
          <a:xfrm flipV="1">
            <a:off x="12251348" y="4966735"/>
            <a:ext cx="586728" cy="110228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E4A0A86B-F67F-B627-920C-2B77959B7A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34184" y="4051590"/>
            <a:ext cx="13778905" cy="2611102"/>
          </a:xfrm>
          <a:prstGeom prst="rect">
            <a:avLst/>
          </a:prstGeom>
          <a:noFill/>
          <a:ln w="571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AU" sz="2800" dirty="0">
              <a:solidFill>
                <a:schemeClr val="bg1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C6BF732F-457A-8DF9-DF70-90CB20B7EF4B}"/>
              </a:ext>
            </a:extLst>
          </p:cNvPr>
          <p:cNvSpPr/>
          <p:nvPr/>
        </p:nvSpPr>
        <p:spPr>
          <a:xfrm>
            <a:off x="10423822" y="4556688"/>
            <a:ext cx="6530448" cy="2007324"/>
          </a:xfrm>
          <a:prstGeom prst="rect">
            <a:avLst/>
          </a:prstGeom>
          <a:noFill/>
          <a:ln w="76200">
            <a:solidFill>
              <a:srgbClr val="BE1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4EEE830-588E-F825-4C2E-1EB1EB7BB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69479" y="9454351"/>
            <a:ext cx="13778905" cy="2611102"/>
          </a:xfrm>
          <a:prstGeom prst="rect">
            <a:avLst/>
          </a:prstGeom>
          <a:noFill/>
          <a:ln w="571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AU" sz="28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85FF9-CE48-504F-9BBA-FCA1467ABC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335238" y="343008"/>
            <a:ext cx="20713147" cy="3445221"/>
          </a:xfrm>
          <a:solidFill>
            <a:srgbClr val="163E64"/>
          </a:solidFill>
        </p:spPr>
        <p:txBody>
          <a:bodyPr anchor="ctr">
            <a:normAutofit/>
          </a:bodyPr>
          <a:lstStyle/>
          <a:p>
            <a:r>
              <a:rPr lang="en-AU" sz="8000" b="1" dirty="0">
                <a:solidFill>
                  <a:schemeClr val="bg1"/>
                </a:solidFill>
              </a:rPr>
              <a:t>Beyond Stochastic Selection: Guiding Musical Predictions with Monte Carlo Tree Search</a:t>
            </a:r>
            <a:br>
              <a:rPr lang="en-AU" sz="8000" b="1" dirty="0">
                <a:solidFill>
                  <a:schemeClr val="bg1"/>
                </a:solidFill>
              </a:rPr>
            </a:br>
            <a:r>
              <a:rPr lang="en-AU" sz="6000" dirty="0">
                <a:solidFill>
                  <a:schemeClr val="bg1"/>
                </a:solidFill>
              </a:rPr>
              <a:t>Scott Howsam, Charles Martin</a:t>
            </a:r>
            <a:endParaRPr lang="en-AU" sz="80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54B4C-886B-097D-CB74-D0CFCD7228F2}"/>
              </a:ext>
            </a:extLst>
          </p:cNvPr>
          <p:cNvSpPr/>
          <p:nvPr/>
        </p:nvSpPr>
        <p:spPr>
          <a:xfrm>
            <a:off x="824862" y="12615298"/>
            <a:ext cx="9065898" cy="66896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Music has multiple valid continuations, not one ‘correct’ next note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Therefore, AI musical prediction systems output a range of valid options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To avoid stochastic selection, we create a Monte Carlo Search Tree of viable future musical sequences, and use a heuristic to rank them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This heuristic is based on ‘rules’ humans implicitly use for prediction, such as tempo, key, and rhythm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The first figure below shows a tree of musical paths with no guidance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The second shows the same tree guided by a heuristic aiming to maintain long time intervals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This heuristic is arbitrary, but displays the power these heuristics can have on the search process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endParaRPr lang="en-AU" sz="2750" dirty="0">
              <a:solidFill>
                <a:schemeClr val="tx1"/>
              </a:solidFill>
            </a:endParaRPr>
          </a:p>
          <a:p>
            <a:pPr marL="457200" indent="-457200">
              <a:buSzPct val="300000"/>
              <a:buFont typeface="Arial" panose="020B0604020202020204" pitchFamily="34" charset="0"/>
              <a:buChar char="•"/>
            </a:pPr>
            <a:endParaRPr lang="en-AU" sz="28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369053-B6CF-FD69-60D1-C631EC8FA739}"/>
              </a:ext>
            </a:extLst>
          </p:cNvPr>
          <p:cNvSpPr/>
          <p:nvPr/>
        </p:nvSpPr>
        <p:spPr>
          <a:xfrm>
            <a:off x="1434505" y="12442722"/>
            <a:ext cx="3535637" cy="50509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900" dirty="0"/>
              <a:t>System Design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324B78-C8BA-E8AB-0297-805105B54D18}"/>
              </a:ext>
            </a:extLst>
          </p:cNvPr>
          <p:cNvSpPr/>
          <p:nvPr/>
        </p:nvSpPr>
        <p:spPr>
          <a:xfrm>
            <a:off x="11492866" y="12612202"/>
            <a:ext cx="9065898" cy="669274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Firstly, we </a:t>
            </a:r>
            <a:r>
              <a:rPr lang="en-US" sz="2750" dirty="0">
                <a:solidFill>
                  <a:schemeClr val="tx1"/>
                </a:solidFill>
              </a:rPr>
              <a:t>evaluated the accuracy of our prediction system against a state-of-the-art published system on 11,142 unseen notes across 15 improvisations. While not every parameter improved performance for every improvisation, on average the heuristic improved accuracy by over 30%.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US" sz="2750" dirty="0">
                <a:solidFill>
                  <a:schemeClr val="tx1"/>
                </a:solidFill>
              </a:rPr>
              <a:t>We also wished to maintain the creativity, originality, and human-like nature of the outputs. For this, a qualitative analysis of multiple improvisation sessions with the AI  (an example of which is shown in the figure below) revealed that our method </a:t>
            </a:r>
            <a:r>
              <a:rPr lang="en-AU" sz="2750" dirty="0">
                <a:solidFill>
                  <a:schemeClr val="tx1"/>
                </a:solidFill>
              </a:rPr>
              <a:t>did not sacrifice creativity. It provided a better collaborative improvisational experience than previous methods.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endParaRPr lang="en-AU" sz="2750" dirty="0">
              <a:solidFill>
                <a:schemeClr val="tx1"/>
              </a:solidFill>
            </a:endParaRPr>
          </a:p>
          <a:p>
            <a:pPr marL="457200" indent="-457200">
              <a:buSzPct val="300000"/>
              <a:buFont typeface="Arial" panose="020B0604020202020204" pitchFamily="34" charset="0"/>
              <a:buChar char="•"/>
            </a:pPr>
            <a:endParaRPr lang="en-AU" sz="28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9D81C3-250B-7AEF-ED23-9B80CDB2B406}"/>
              </a:ext>
            </a:extLst>
          </p:cNvPr>
          <p:cNvSpPr/>
          <p:nvPr/>
        </p:nvSpPr>
        <p:spPr>
          <a:xfrm>
            <a:off x="12102509" y="12442722"/>
            <a:ext cx="1933531" cy="50509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900" dirty="0"/>
              <a:t>Results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F720BC-94AA-8EF7-14DE-E7B4A7E8A505}"/>
              </a:ext>
            </a:extLst>
          </p:cNvPr>
          <p:cNvSpPr/>
          <p:nvPr/>
        </p:nvSpPr>
        <p:spPr>
          <a:xfrm>
            <a:off x="11492866" y="25340827"/>
            <a:ext cx="9065898" cy="459137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endParaRPr lang="en-AU" sz="1200" dirty="0">
              <a:solidFill>
                <a:schemeClr val="tx1"/>
              </a:solidFill>
            </a:endParaRP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3600" dirty="0">
                <a:solidFill>
                  <a:schemeClr val="tx1"/>
                </a:solidFill>
              </a:rPr>
              <a:t>Integrating Monte Carlo Tree Search into musical prediction systems improves their performance significantly in multiple metrics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3600" dirty="0">
                <a:solidFill>
                  <a:schemeClr val="tx1"/>
                </a:solidFill>
              </a:rPr>
              <a:t>Multiple future work avenues seem very promising, including a UI for further user control, and many alternative heuristics</a:t>
            </a:r>
          </a:p>
          <a:p>
            <a:pPr marL="457200" indent="-457200">
              <a:buSzPct val="300000"/>
              <a:buFont typeface="Arial" panose="020B0604020202020204" pitchFamily="34" charset="0"/>
              <a:buChar char="•"/>
            </a:pPr>
            <a:endParaRPr lang="en-AU" sz="28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D518C09-A5FE-2230-4B8B-AFA9F5663263}"/>
              </a:ext>
            </a:extLst>
          </p:cNvPr>
          <p:cNvSpPr/>
          <p:nvPr/>
        </p:nvSpPr>
        <p:spPr>
          <a:xfrm>
            <a:off x="13961471" y="24998546"/>
            <a:ext cx="3777192" cy="684561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800" dirty="0"/>
              <a:t>Conclusion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9A37F28-9B75-0433-D4D0-8C51E8E18F33}"/>
              </a:ext>
            </a:extLst>
          </p:cNvPr>
          <p:cNvSpPr/>
          <p:nvPr/>
        </p:nvSpPr>
        <p:spPr>
          <a:xfrm>
            <a:off x="499943" y="4368255"/>
            <a:ext cx="6553242" cy="22944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A neural network provides multiple predictions of valid notes to play</a:t>
            </a:r>
            <a:br>
              <a:rPr lang="en-AU" sz="2750" dirty="0">
                <a:solidFill>
                  <a:schemeClr val="tx1"/>
                </a:solidFill>
              </a:rPr>
            </a:br>
            <a:r>
              <a:rPr lang="en-AU" sz="2750" dirty="0">
                <a:solidFill>
                  <a:schemeClr val="tx1"/>
                </a:solidFill>
              </a:rPr>
              <a:t>next, with probabilities for each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Output is selected stochastically</a:t>
            </a:r>
            <a:endParaRPr lang="en-AU" sz="2800" dirty="0">
              <a:solidFill>
                <a:schemeClr val="tx1"/>
              </a:solidFill>
            </a:endParaRP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800" dirty="0">
                <a:solidFill>
                  <a:schemeClr val="tx1"/>
                </a:solidFill>
              </a:rPr>
              <a:t>Surely there’s a better way!</a:t>
            </a:r>
            <a:endParaRPr lang="en-AU" sz="275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DC5A5AE-FC3A-97EF-B4EA-B4E3FF7BF738}"/>
              </a:ext>
            </a:extLst>
          </p:cNvPr>
          <p:cNvSpPr/>
          <p:nvPr/>
        </p:nvSpPr>
        <p:spPr>
          <a:xfrm>
            <a:off x="828596" y="4051590"/>
            <a:ext cx="5895935" cy="50509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900" dirty="0"/>
              <a:t>Prior Prediction System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32BE0CD-A5EE-3824-955B-1F661C1E1474}"/>
              </a:ext>
            </a:extLst>
          </p:cNvPr>
          <p:cNvSpPr/>
          <p:nvPr/>
        </p:nvSpPr>
        <p:spPr>
          <a:xfrm>
            <a:off x="335238" y="9771016"/>
            <a:ext cx="6553242" cy="22944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Our method is closer to humans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MDRNN generates multiple options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Important parameters of the piece</a:t>
            </a:r>
            <a:br>
              <a:rPr lang="en-AU" sz="2750" dirty="0">
                <a:solidFill>
                  <a:schemeClr val="tx1"/>
                </a:solidFill>
              </a:rPr>
            </a:br>
            <a:r>
              <a:rPr lang="en-AU" sz="2750" dirty="0">
                <a:solidFill>
                  <a:schemeClr val="tx1"/>
                </a:solidFill>
              </a:rPr>
              <a:t>are generated from previous context</a:t>
            </a:r>
          </a:p>
          <a:p>
            <a:pPr marL="457200" indent="-457200">
              <a:buSzPct val="70000"/>
              <a:buFont typeface="Aptos" panose="020B0004020202020204" pitchFamily="34" charset="0"/>
              <a:buChar char="●"/>
            </a:pPr>
            <a:r>
              <a:rPr lang="en-AU" sz="2750" dirty="0">
                <a:solidFill>
                  <a:schemeClr val="tx1"/>
                </a:solidFill>
              </a:rPr>
              <a:t>Search for the best match to these</a:t>
            </a:r>
          </a:p>
          <a:p>
            <a:pPr marL="457200" indent="-457200">
              <a:buSzPct val="300000"/>
              <a:buFont typeface="Arial" panose="020B0604020202020204" pitchFamily="34" charset="0"/>
              <a:buChar char="•"/>
            </a:pPr>
            <a:endParaRPr lang="en-AU" sz="28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9F6E602-AC65-B4F1-1757-4BC2A4DBACF5}"/>
              </a:ext>
            </a:extLst>
          </p:cNvPr>
          <p:cNvSpPr/>
          <p:nvPr/>
        </p:nvSpPr>
        <p:spPr>
          <a:xfrm>
            <a:off x="663891" y="9454351"/>
            <a:ext cx="5895935" cy="50509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900" dirty="0"/>
              <a:t>Our Prediction System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5C03EDA-6E39-A3CC-BF08-425C7F44F3C5}"/>
              </a:ext>
            </a:extLst>
          </p:cNvPr>
          <p:cNvSpPr/>
          <p:nvPr/>
        </p:nvSpPr>
        <p:spPr>
          <a:xfrm>
            <a:off x="6752899" y="5120844"/>
            <a:ext cx="709653" cy="50121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AFA6E0F5-E4D1-374B-613A-E462CA59E439}"/>
              </a:ext>
            </a:extLst>
          </p:cNvPr>
          <p:cNvSpPr/>
          <p:nvPr/>
        </p:nvSpPr>
        <p:spPr>
          <a:xfrm>
            <a:off x="6533652" y="10509294"/>
            <a:ext cx="709653" cy="50121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E9085CEA-00CE-BBF9-3F4E-D7D32C73D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54" y="24878689"/>
            <a:ext cx="9064800" cy="5053516"/>
          </a:xfrm>
          <a:prstGeom prst="rect">
            <a:avLst/>
          </a:prstGeom>
        </p:spPr>
      </p:pic>
      <p:pic>
        <p:nvPicPr>
          <p:cNvPr id="13" name="Picture 12" descr="A graph showing a diagram of a network&#10;&#10;AI-generated content may be incorrect.">
            <a:extLst>
              <a:ext uri="{FF2B5EF4-FFF2-40B4-BE49-F238E27FC236}">
                <a16:creationId xmlns:a16="http://schemas.microsoft.com/office/drawing/2014/main" id="{C2889B93-025B-EFBE-41EA-758061D9B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59" y="19573088"/>
            <a:ext cx="9064800" cy="5026803"/>
          </a:xfrm>
          <a:prstGeom prst="rect">
            <a:avLst/>
          </a:prstGeom>
        </p:spPr>
      </p:pic>
      <p:pic>
        <p:nvPicPr>
          <p:cNvPr id="144" name="Graphic 143">
            <a:extLst>
              <a:ext uri="{FF2B5EF4-FFF2-40B4-BE49-F238E27FC236}">
                <a16:creationId xmlns:a16="http://schemas.microsoft.com/office/drawing/2014/main" id="{8A165235-5DC4-5B3D-ADF4-255986CDB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33755" y="7355139"/>
            <a:ext cx="788740" cy="985925"/>
          </a:xfrm>
          <a:prstGeom prst="rect">
            <a:avLst/>
          </a:prstGeom>
        </p:spPr>
      </p:pic>
      <p:pic>
        <p:nvPicPr>
          <p:cNvPr id="166" name="Graphic 165" descr="Checkmark with solid fill">
            <a:extLst>
              <a:ext uri="{FF2B5EF4-FFF2-40B4-BE49-F238E27FC236}">
                <a16:creationId xmlns:a16="http://schemas.microsoft.com/office/drawing/2014/main" id="{F57FFA98-B45F-D801-83ED-458FDA3D56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51438" y="8384364"/>
            <a:ext cx="647395" cy="647395"/>
          </a:xfrm>
          <a:prstGeom prst="rect">
            <a:avLst/>
          </a:prstGeom>
        </p:spPr>
      </p:pic>
      <p:pic>
        <p:nvPicPr>
          <p:cNvPr id="171" name="Graphic 170" descr="Close with solid fill">
            <a:extLst>
              <a:ext uri="{FF2B5EF4-FFF2-40B4-BE49-F238E27FC236}">
                <a16:creationId xmlns:a16="http://schemas.microsoft.com/office/drawing/2014/main" id="{55C00C7B-068A-6E9B-18E8-A28AA66D88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881580" y="7550923"/>
            <a:ext cx="586051" cy="586051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CC5E92F4-0832-8D46-3751-43F38777F487}"/>
              </a:ext>
            </a:extLst>
          </p:cNvPr>
          <p:cNvSpPr txBox="1"/>
          <p:nvPr/>
        </p:nvSpPr>
        <p:spPr>
          <a:xfrm>
            <a:off x="7434183" y="4085911"/>
            <a:ext cx="2824311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Musical Context</a:t>
            </a:r>
          </a:p>
        </p:txBody>
      </p:sp>
      <p:pic>
        <p:nvPicPr>
          <p:cNvPr id="192" name="Graphic 191" descr="Music notes with solid fill">
            <a:extLst>
              <a:ext uri="{FF2B5EF4-FFF2-40B4-BE49-F238E27FC236}">
                <a16:creationId xmlns:a16="http://schemas.microsoft.com/office/drawing/2014/main" id="{10D0C584-4FE2-5C85-4973-4C44C6F8A1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5513" y="4208408"/>
            <a:ext cx="2614129" cy="2614129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C8A9FCBB-094E-78C1-D36F-D20083D4B14E}"/>
              </a:ext>
            </a:extLst>
          </p:cNvPr>
          <p:cNvSpPr txBox="1"/>
          <p:nvPr/>
        </p:nvSpPr>
        <p:spPr>
          <a:xfrm>
            <a:off x="7276628" y="9505304"/>
            <a:ext cx="2824311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Musical Context</a:t>
            </a:r>
          </a:p>
        </p:txBody>
      </p:sp>
      <p:pic>
        <p:nvPicPr>
          <p:cNvPr id="196" name="Graphic 195" descr="Music notes with solid fill">
            <a:extLst>
              <a:ext uri="{FF2B5EF4-FFF2-40B4-BE49-F238E27FC236}">
                <a16:creationId xmlns:a16="http://schemas.microsoft.com/office/drawing/2014/main" id="{D883F090-3895-EBDA-A7C6-046C7DEBEBF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83780" y="9656146"/>
            <a:ext cx="2614129" cy="2614129"/>
          </a:xfrm>
          <a:prstGeom prst="rect">
            <a:avLst/>
          </a:prstGeom>
        </p:spPr>
      </p:pic>
      <p:sp>
        <p:nvSpPr>
          <p:cNvPr id="197" name="Rectangle 196">
            <a:extLst>
              <a:ext uri="{FF2B5EF4-FFF2-40B4-BE49-F238E27FC236}">
                <a16:creationId xmlns:a16="http://schemas.microsoft.com/office/drawing/2014/main" id="{28E2F897-1FE3-80F0-F1EA-1DAD76ED9736}"/>
              </a:ext>
            </a:extLst>
          </p:cNvPr>
          <p:cNvSpPr/>
          <p:nvPr/>
        </p:nvSpPr>
        <p:spPr>
          <a:xfrm>
            <a:off x="12838076" y="4696024"/>
            <a:ext cx="1454934" cy="171728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750" dirty="0"/>
              <a:t>Mixture Density Network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5105311-AAF4-BDE6-0CFE-8DE02B598C81}"/>
              </a:ext>
            </a:extLst>
          </p:cNvPr>
          <p:cNvSpPr txBox="1"/>
          <p:nvPr/>
        </p:nvSpPr>
        <p:spPr>
          <a:xfrm>
            <a:off x="10257289" y="4047954"/>
            <a:ext cx="703059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750" b="1" dirty="0">
                <a:solidFill>
                  <a:srgbClr val="BE1414"/>
                </a:solidFill>
              </a:rPr>
              <a:t>Mixture Density Recurrent Neural Network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8FCFAB4-2EF1-782F-207E-1040F5650373}"/>
              </a:ext>
            </a:extLst>
          </p:cNvPr>
          <p:cNvSpPr/>
          <p:nvPr/>
        </p:nvSpPr>
        <p:spPr>
          <a:xfrm>
            <a:off x="10573719" y="4696024"/>
            <a:ext cx="1677629" cy="150555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750" dirty="0"/>
              <a:t>Recurrent</a:t>
            </a:r>
          </a:p>
          <a:p>
            <a:pPr algn="ctr"/>
            <a:r>
              <a:rPr lang="en-AU" sz="2750" dirty="0"/>
              <a:t>Neural</a:t>
            </a:r>
          </a:p>
          <a:p>
            <a:pPr algn="ctr"/>
            <a:r>
              <a:rPr lang="en-AU" sz="2750" dirty="0"/>
              <a:t>Network</a:t>
            </a: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9DE383F8-EC41-C38C-2957-CC1D4CB6BC8A}"/>
              </a:ext>
            </a:extLst>
          </p:cNvPr>
          <p:cNvCxnSpPr>
            <a:cxnSpLocks/>
          </p:cNvCxnSpPr>
          <p:nvPr/>
        </p:nvCxnSpPr>
        <p:spPr>
          <a:xfrm>
            <a:off x="12251348" y="4966735"/>
            <a:ext cx="586728" cy="110228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AB5DB7D-B98C-F2F7-7097-013A4AF3605C}"/>
              </a:ext>
            </a:extLst>
          </p:cNvPr>
          <p:cNvCxnSpPr>
            <a:cxnSpLocks/>
            <a:stCxn id="201" idx="3"/>
            <a:endCxn id="197" idx="1"/>
          </p:cNvCxnSpPr>
          <p:nvPr/>
        </p:nvCxnSpPr>
        <p:spPr>
          <a:xfrm>
            <a:off x="12251348" y="5448799"/>
            <a:ext cx="586728" cy="105866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F105A0DC-9AA2-A9A8-44D8-14B50E826A50}"/>
              </a:ext>
            </a:extLst>
          </p:cNvPr>
          <p:cNvCxnSpPr>
            <a:cxnSpLocks/>
          </p:cNvCxnSpPr>
          <p:nvPr/>
        </p:nvCxnSpPr>
        <p:spPr>
          <a:xfrm>
            <a:off x="12251348" y="4966735"/>
            <a:ext cx="586728" cy="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17997FB-C824-4FFD-22D4-1ADCE986CA2D}"/>
              </a:ext>
            </a:extLst>
          </p:cNvPr>
          <p:cNvCxnSpPr>
            <a:cxnSpLocks/>
          </p:cNvCxnSpPr>
          <p:nvPr/>
        </p:nvCxnSpPr>
        <p:spPr>
          <a:xfrm>
            <a:off x="12251348" y="6069015"/>
            <a:ext cx="586728" cy="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881D16E5-EB70-5B0F-3841-00202776B1DA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12251348" y="5448799"/>
            <a:ext cx="586728" cy="620216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F359518D-B28C-0585-044F-CB6A929A12E7}"/>
              </a:ext>
            </a:extLst>
          </p:cNvPr>
          <p:cNvCxnSpPr>
            <a:cxnSpLocks/>
            <a:stCxn id="201" idx="3"/>
          </p:cNvCxnSpPr>
          <p:nvPr/>
        </p:nvCxnSpPr>
        <p:spPr>
          <a:xfrm flipV="1">
            <a:off x="12251348" y="4966735"/>
            <a:ext cx="586728" cy="482064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848680D-5DEE-E1B0-873F-B94208471043}"/>
              </a:ext>
            </a:extLst>
          </p:cNvPr>
          <p:cNvCxnSpPr>
            <a:cxnSpLocks/>
            <a:endCxn id="197" idx="1"/>
          </p:cNvCxnSpPr>
          <p:nvPr/>
        </p:nvCxnSpPr>
        <p:spPr>
          <a:xfrm>
            <a:off x="12251348" y="4966735"/>
            <a:ext cx="586728" cy="58793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AA17880C-7BD9-65E8-EECA-D56542764DFD}"/>
              </a:ext>
            </a:extLst>
          </p:cNvPr>
          <p:cNvCxnSpPr>
            <a:cxnSpLocks/>
            <a:endCxn id="197" idx="1"/>
          </p:cNvCxnSpPr>
          <p:nvPr/>
        </p:nvCxnSpPr>
        <p:spPr>
          <a:xfrm flipV="1">
            <a:off x="12251348" y="5554665"/>
            <a:ext cx="586728" cy="514350"/>
          </a:xfrm>
          <a:prstGeom prst="straightConnector1">
            <a:avLst/>
          </a:prstGeom>
          <a:ln w="50800">
            <a:solidFill>
              <a:schemeClr val="tx2">
                <a:lumMod val="90000"/>
                <a:lumOff val="1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Arrow: Right 245">
            <a:extLst>
              <a:ext uri="{FF2B5EF4-FFF2-40B4-BE49-F238E27FC236}">
                <a16:creationId xmlns:a16="http://schemas.microsoft.com/office/drawing/2014/main" id="{5F59F0FB-A66D-46A2-50DC-B2A81706BCC9}"/>
              </a:ext>
            </a:extLst>
          </p:cNvPr>
          <p:cNvSpPr/>
          <p:nvPr/>
        </p:nvSpPr>
        <p:spPr>
          <a:xfrm>
            <a:off x="9698738" y="5292530"/>
            <a:ext cx="709653" cy="50121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4" name="Arrow: Right 253">
            <a:extLst>
              <a:ext uri="{FF2B5EF4-FFF2-40B4-BE49-F238E27FC236}">
                <a16:creationId xmlns:a16="http://schemas.microsoft.com/office/drawing/2014/main" id="{4E2127F9-4712-5EED-26BA-61B6611400CF}"/>
              </a:ext>
            </a:extLst>
          </p:cNvPr>
          <p:cNvSpPr/>
          <p:nvPr/>
        </p:nvSpPr>
        <p:spPr>
          <a:xfrm>
            <a:off x="14308441" y="5314509"/>
            <a:ext cx="571297" cy="367013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56" name="Graphic 255">
            <a:extLst>
              <a:ext uri="{FF2B5EF4-FFF2-40B4-BE49-F238E27FC236}">
                <a16:creationId xmlns:a16="http://schemas.microsoft.com/office/drawing/2014/main" id="{FFA9CD88-3033-2D01-3934-F63E203B90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308441" y="5120844"/>
            <a:ext cx="2645434" cy="1385887"/>
          </a:xfrm>
          <a:prstGeom prst="rect">
            <a:avLst/>
          </a:prstGeom>
        </p:spPr>
      </p:pic>
      <p:pic>
        <p:nvPicPr>
          <p:cNvPr id="259" name="Graphic 258">
            <a:extLst>
              <a:ext uri="{FF2B5EF4-FFF2-40B4-BE49-F238E27FC236}">
                <a16:creationId xmlns:a16="http://schemas.microsoft.com/office/drawing/2014/main" id="{79CFDAF0-81E7-FA77-65B6-A7AF0133C62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190520" y="4935159"/>
            <a:ext cx="252088" cy="705844"/>
          </a:xfrm>
          <a:prstGeom prst="rect">
            <a:avLst/>
          </a:prstGeom>
        </p:spPr>
      </p:pic>
      <p:pic>
        <p:nvPicPr>
          <p:cNvPr id="260" name="Graphic 259">
            <a:extLst>
              <a:ext uri="{FF2B5EF4-FFF2-40B4-BE49-F238E27FC236}">
                <a16:creationId xmlns:a16="http://schemas.microsoft.com/office/drawing/2014/main" id="{CE280B3A-A7E9-F78B-BEDA-42CD43F7EA9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929060" y="5367510"/>
            <a:ext cx="471242" cy="215007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AAEDEE27-9485-7F0E-377D-6BD34C05723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469466" y="4950749"/>
            <a:ext cx="766414" cy="766414"/>
          </a:xfrm>
          <a:prstGeom prst="rect">
            <a:avLst/>
          </a:prstGeom>
        </p:spPr>
      </p:pic>
      <p:sp>
        <p:nvSpPr>
          <p:cNvPr id="262" name="TextBox 261">
            <a:extLst>
              <a:ext uri="{FF2B5EF4-FFF2-40B4-BE49-F238E27FC236}">
                <a16:creationId xmlns:a16="http://schemas.microsoft.com/office/drawing/2014/main" id="{DD27E293-C3C8-2903-47C2-148686E0EBA0}"/>
              </a:ext>
            </a:extLst>
          </p:cNvPr>
          <p:cNvSpPr txBox="1"/>
          <p:nvPr/>
        </p:nvSpPr>
        <p:spPr>
          <a:xfrm>
            <a:off x="14632908" y="4563044"/>
            <a:ext cx="2824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Gaussian Mixture Model</a:t>
            </a:r>
          </a:p>
        </p:txBody>
      </p:sp>
      <p:pic>
        <p:nvPicPr>
          <p:cNvPr id="264" name="Graphic 263" descr="Dice with solid fill">
            <a:extLst>
              <a:ext uri="{FF2B5EF4-FFF2-40B4-BE49-F238E27FC236}">
                <a16:creationId xmlns:a16="http://schemas.microsoft.com/office/drawing/2014/main" id="{7C648F28-1736-06C9-EA6B-EFBB9DF932B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868327" y="5100284"/>
            <a:ext cx="1093325" cy="1093325"/>
          </a:xfrm>
          <a:prstGeom prst="rect">
            <a:avLst/>
          </a:prstGeom>
        </p:spPr>
      </p:pic>
      <p:sp>
        <p:nvSpPr>
          <p:cNvPr id="265" name="Arrow: Right 264">
            <a:extLst>
              <a:ext uri="{FF2B5EF4-FFF2-40B4-BE49-F238E27FC236}">
                <a16:creationId xmlns:a16="http://schemas.microsoft.com/office/drawing/2014/main" id="{0DB4C308-0CBD-80B2-092A-57D4EA17BEE9}"/>
              </a:ext>
            </a:extLst>
          </p:cNvPr>
          <p:cNvSpPr/>
          <p:nvPr/>
        </p:nvSpPr>
        <p:spPr>
          <a:xfrm>
            <a:off x="16969701" y="5224871"/>
            <a:ext cx="909487" cy="50121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08C4E483-254D-71BA-B92D-9E54C9480EA6}"/>
              </a:ext>
            </a:extLst>
          </p:cNvPr>
          <p:cNvSpPr txBox="1"/>
          <p:nvPr/>
        </p:nvSpPr>
        <p:spPr>
          <a:xfrm>
            <a:off x="17367821" y="4232663"/>
            <a:ext cx="194874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Stochastic</a:t>
            </a:r>
          </a:p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Sampling</a:t>
            </a:r>
          </a:p>
        </p:txBody>
      </p:sp>
      <p:sp>
        <p:nvSpPr>
          <p:cNvPr id="268" name="Arrow: Right 267">
            <a:extLst>
              <a:ext uri="{FF2B5EF4-FFF2-40B4-BE49-F238E27FC236}">
                <a16:creationId xmlns:a16="http://schemas.microsoft.com/office/drawing/2014/main" id="{141243E6-8566-1B7C-BD45-D7268C5D8FEA}"/>
              </a:ext>
            </a:extLst>
          </p:cNvPr>
          <p:cNvSpPr/>
          <p:nvPr/>
        </p:nvSpPr>
        <p:spPr>
          <a:xfrm>
            <a:off x="18926245" y="5247407"/>
            <a:ext cx="1202860" cy="50121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70" name="Graphic 269">
            <a:extLst>
              <a:ext uri="{FF2B5EF4-FFF2-40B4-BE49-F238E27FC236}">
                <a16:creationId xmlns:a16="http://schemas.microsoft.com/office/drawing/2014/main" id="{0F9366B6-8F26-84DD-876B-FF29D1ACB9C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273201" y="5015249"/>
            <a:ext cx="526219" cy="1473408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716B3FCA-FD52-37E0-1B36-7AE65F3196ED}"/>
              </a:ext>
            </a:extLst>
          </p:cNvPr>
          <p:cNvSpPr txBox="1"/>
          <p:nvPr/>
        </p:nvSpPr>
        <p:spPr>
          <a:xfrm>
            <a:off x="19556207" y="4072775"/>
            <a:ext cx="196020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Note</a:t>
            </a:r>
            <a:b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Choice</a:t>
            </a:r>
          </a:p>
        </p:txBody>
      </p:sp>
      <p:sp>
        <p:nvSpPr>
          <p:cNvPr id="272" name="Arrow: Right 271">
            <a:extLst>
              <a:ext uri="{FF2B5EF4-FFF2-40B4-BE49-F238E27FC236}">
                <a16:creationId xmlns:a16="http://schemas.microsoft.com/office/drawing/2014/main" id="{B95FCEE6-D1C3-8AA9-F826-051EB9398119}"/>
              </a:ext>
            </a:extLst>
          </p:cNvPr>
          <p:cNvSpPr/>
          <p:nvPr/>
        </p:nvSpPr>
        <p:spPr>
          <a:xfrm>
            <a:off x="9525444" y="10651345"/>
            <a:ext cx="709653" cy="50121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0A96AF88-3970-BA81-CF62-A6503EE534BB}"/>
              </a:ext>
            </a:extLst>
          </p:cNvPr>
          <p:cNvSpPr/>
          <p:nvPr/>
        </p:nvSpPr>
        <p:spPr>
          <a:xfrm>
            <a:off x="10226725" y="10248900"/>
            <a:ext cx="1457023" cy="1226088"/>
          </a:xfrm>
          <a:prstGeom prst="rect">
            <a:avLst/>
          </a:prstGeom>
          <a:solidFill>
            <a:srgbClr val="BE14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750" b="1" dirty="0"/>
              <a:t>MDRNN</a:t>
            </a:r>
          </a:p>
        </p:txBody>
      </p:sp>
      <p:sp>
        <p:nvSpPr>
          <p:cNvPr id="278" name="Arrow: U-Turn 277">
            <a:extLst>
              <a:ext uri="{FF2B5EF4-FFF2-40B4-BE49-F238E27FC236}">
                <a16:creationId xmlns:a16="http://schemas.microsoft.com/office/drawing/2014/main" id="{B01107E4-228F-6721-D5D2-3CF2D24C1039}"/>
              </a:ext>
            </a:extLst>
          </p:cNvPr>
          <p:cNvSpPr/>
          <p:nvPr/>
        </p:nvSpPr>
        <p:spPr>
          <a:xfrm rot="10800000">
            <a:off x="11049965" y="6200072"/>
            <a:ext cx="709616" cy="364170"/>
          </a:xfrm>
          <a:prstGeom prst="uturnArrow">
            <a:avLst>
              <a:gd name="adj1" fmla="val 24921"/>
              <a:gd name="adj2" fmla="val 25000"/>
              <a:gd name="adj3" fmla="val 22791"/>
              <a:gd name="adj4" fmla="val 43141"/>
              <a:gd name="adj5" fmla="val 100000"/>
            </a:avLst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9" name="Arrow: U-Turn 278">
            <a:extLst>
              <a:ext uri="{FF2B5EF4-FFF2-40B4-BE49-F238E27FC236}">
                <a16:creationId xmlns:a16="http://schemas.microsoft.com/office/drawing/2014/main" id="{BB185CD9-8D43-98F7-C7FB-68BE38805219}"/>
              </a:ext>
            </a:extLst>
          </p:cNvPr>
          <p:cNvSpPr/>
          <p:nvPr/>
        </p:nvSpPr>
        <p:spPr>
          <a:xfrm rot="10800000">
            <a:off x="10528986" y="11480795"/>
            <a:ext cx="834746" cy="584658"/>
          </a:xfrm>
          <a:prstGeom prst="uturnArrow">
            <a:avLst>
              <a:gd name="adj1" fmla="val 24921"/>
              <a:gd name="adj2" fmla="val 25000"/>
              <a:gd name="adj3" fmla="val 22791"/>
              <a:gd name="adj4" fmla="val 43141"/>
              <a:gd name="adj5" fmla="val 100000"/>
            </a:avLst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623551DA-4A00-9856-B036-E5DC280F24A8}"/>
              </a:ext>
            </a:extLst>
          </p:cNvPr>
          <p:cNvSpPr txBox="1"/>
          <p:nvPr/>
        </p:nvSpPr>
        <p:spPr>
          <a:xfrm>
            <a:off x="11852747" y="9805580"/>
            <a:ext cx="260850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Prediction Tree</a:t>
            </a:r>
          </a:p>
        </p:txBody>
      </p: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E7B2F453-398D-0887-A456-9EC70A60189D}"/>
              </a:ext>
            </a:extLst>
          </p:cNvPr>
          <p:cNvCxnSpPr>
            <a:cxnSpLocks/>
          </p:cNvCxnSpPr>
          <p:nvPr/>
        </p:nvCxnSpPr>
        <p:spPr>
          <a:xfrm>
            <a:off x="10235097" y="9742189"/>
            <a:ext cx="4471532" cy="0"/>
          </a:xfrm>
          <a:prstGeom prst="straightConnector1">
            <a:avLst/>
          </a:prstGeom>
          <a:ln w="254000">
            <a:solidFill>
              <a:schemeClr val="tx2">
                <a:lumMod val="90000"/>
                <a:lumOff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0" name="Graphic 299">
            <a:extLst>
              <a:ext uri="{FF2B5EF4-FFF2-40B4-BE49-F238E27FC236}">
                <a16:creationId xmlns:a16="http://schemas.microsoft.com/office/drawing/2014/main" id="{62728D1D-47C9-8342-7FF8-1EF7CD20F24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304049" y="10852176"/>
            <a:ext cx="215613" cy="603714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3835C82A-FD88-F5BB-8F05-10F94560097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086894" y="10839613"/>
            <a:ext cx="374562" cy="170896"/>
          </a:xfrm>
          <a:prstGeom prst="rect">
            <a:avLst/>
          </a:prstGeom>
        </p:spPr>
      </p:pic>
      <p:pic>
        <p:nvPicPr>
          <p:cNvPr id="302" name="Graphic 301">
            <a:extLst>
              <a:ext uri="{FF2B5EF4-FFF2-40B4-BE49-F238E27FC236}">
                <a16:creationId xmlns:a16="http://schemas.microsoft.com/office/drawing/2014/main" id="{02AC456E-26A8-58BC-54AD-36383B704A6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736264" y="10410957"/>
            <a:ext cx="599552" cy="599552"/>
          </a:xfrm>
          <a:prstGeom prst="rect">
            <a:avLst/>
          </a:prstGeom>
        </p:spPr>
      </p:pic>
      <p:pic>
        <p:nvPicPr>
          <p:cNvPr id="304" name="Graphic 303">
            <a:extLst>
              <a:ext uri="{FF2B5EF4-FFF2-40B4-BE49-F238E27FC236}">
                <a16:creationId xmlns:a16="http://schemas.microsoft.com/office/drawing/2014/main" id="{B35B69E5-E00C-0AB7-3C6D-114E1DFBD3B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322154" y="11308330"/>
            <a:ext cx="166263" cy="498790"/>
          </a:xfrm>
          <a:prstGeom prst="rect">
            <a:avLst/>
          </a:prstGeom>
        </p:spPr>
      </p:pic>
      <p:pic>
        <p:nvPicPr>
          <p:cNvPr id="306" name="Graphic 305">
            <a:extLst>
              <a:ext uri="{FF2B5EF4-FFF2-40B4-BE49-F238E27FC236}">
                <a16:creationId xmlns:a16="http://schemas.microsoft.com/office/drawing/2014/main" id="{55C9AE2A-48EA-19C0-7A35-5F4850DD7E8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020334" y="10231909"/>
            <a:ext cx="472789" cy="260034"/>
          </a:xfrm>
          <a:prstGeom prst="rect">
            <a:avLst/>
          </a:prstGeom>
        </p:spPr>
      </p:pic>
      <p:pic>
        <p:nvPicPr>
          <p:cNvPr id="308" name="Graphic 307">
            <a:extLst>
              <a:ext uri="{FF2B5EF4-FFF2-40B4-BE49-F238E27FC236}">
                <a16:creationId xmlns:a16="http://schemas.microsoft.com/office/drawing/2014/main" id="{C1AE5FDD-88D9-DF48-E9B8-6AC00B31C16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988209" y="11397494"/>
            <a:ext cx="228600" cy="428625"/>
          </a:xfrm>
          <a:prstGeom prst="rect">
            <a:avLst/>
          </a:prstGeom>
        </p:spPr>
      </p:pic>
      <p:sp>
        <p:nvSpPr>
          <p:cNvPr id="309" name="Arrow: Right 308">
            <a:extLst>
              <a:ext uri="{FF2B5EF4-FFF2-40B4-BE49-F238E27FC236}">
                <a16:creationId xmlns:a16="http://schemas.microsoft.com/office/drawing/2014/main" id="{E3AF6AA9-8FE3-E426-F460-D34A51F96F0C}"/>
              </a:ext>
            </a:extLst>
          </p:cNvPr>
          <p:cNvSpPr/>
          <p:nvPr/>
        </p:nvSpPr>
        <p:spPr>
          <a:xfrm>
            <a:off x="11716702" y="10598722"/>
            <a:ext cx="446084" cy="50121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11" name="Graphic 310">
            <a:extLst>
              <a:ext uri="{FF2B5EF4-FFF2-40B4-BE49-F238E27FC236}">
                <a16:creationId xmlns:a16="http://schemas.microsoft.com/office/drawing/2014/main" id="{D25B8BA0-EE66-41F0-C7FB-10FBFF9DC27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380007" y="11349870"/>
            <a:ext cx="285750" cy="476250"/>
          </a:xfrm>
          <a:prstGeom prst="rect">
            <a:avLst/>
          </a:prstGeom>
        </p:spPr>
      </p:pic>
      <p:pic>
        <p:nvPicPr>
          <p:cNvPr id="312" name="Graphic 311">
            <a:extLst>
              <a:ext uri="{FF2B5EF4-FFF2-40B4-BE49-F238E27FC236}">
                <a16:creationId xmlns:a16="http://schemas.microsoft.com/office/drawing/2014/main" id="{A88F673C-A11E-808F-8E39-7EAE5130842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771386" y="11321338"/>
            <a:ext cx="504781" cy="504781"/>
          </a:xfrm>
          <a:prstGeom prst="rect">
            <a:avLst/>
          </a:prstGeom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F5322C81-98B5-F2D2-75B3-DDFF68D8DE1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619019" y="11665244"/>
            <a:ext cx="252000" cy="138599"/>
          </a:xfrm>
          <a:prstGeom prst="rect">
            <a:avLst/>
          </a:prstGeom>
        </p:spPr>
      </p:pic>
      <p:pic>
        <p:nvPicPr>
          <p:cNvPr id="315" name="Graphic 314">
            <a:extLst>
              <a:ext uri="{FF2B5EF4-FFF2-40B4-BE49-F238E27FC236}">
                <a16:creationId xmlns:a16="http://schemas.microsoft.com/office/drawing/2014/main" id="{C6B00BED-C15A-4EDA-7F7B-B9809924568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090793" y="11362464"/>
            <a:ext cx="252000" cy="450001"/>
          </a:xfrm>
          <a:prstGeom prst="rect">
            <a:avLst/>
          </a:prstGeom>
        </p:spPr>
      </p:pic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CE36D9C3-5924-D35B-CD20-3FD542243E85}"/>
              </a:ext>
            </a:extLst>
          </p:cNvPr>
          <p:cNvCxnSpPr/>
          <p:nvPr/>
        </p:nvCxnSpPr>
        <p:spPr>
          <a:xfrm flipH="1">
            <a:off x="12558296" y="10421498"/>
            <a:ext cx="366054" cy="365523"/>
          </a:xfrm>
          <a:prstGeom prst="straightConnector1">
            <a:avLst/>
          </a:prstGeom>
          <a:ln w="6350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F03C84AC-23EC-8E20-C29F-5DFD5B2BC8CE}"/>
              </a:ext>
            </a:extLst>
          </p:cNvPr>
          <p:cNvCxnSpPr>
            <a:cxnSpLocks/>
          </p:cNvCxnSpPr>
          <p:nvPr/>
        </p:nvCxnSpPr>
        <p:spPr>
          <a:xfrm>
            <a:off x="13258800" y="10509294"/>
            <a:ext cx="0" cy="348827"/>
          </a:xfrm>
          <a:prstGeom prst="straightConnector1">
            <a:avLst/>
          </a:prstGeom>
          <a:ln w="6350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097CC005-B2E1-4FED-5E18-19CBA9A5F825}"/>
              </a:ext>
            </a:extLst>
          </p:cNvPr>
          <p:cNvCxnSpPr>
            <a:cxnSpLocks/>
          </p:cNvCxnSpPr>
          <p:nvPr/>
        </p:nvCxnSpPr>
        <p:spPr>
          <a:xfrm>
            <a:off x="13544550" y="10363200"/>
            <a:ext cx="381250" cy="386324"/>
          </a:xfrm>
          <a:prstGeom prst="straightConnector1">
            <a:avLst/>
          </a:prstGeom>
          <a:ln w="6350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06CF7B64-5D13-CA8F-6171-0ECF65B125AF}"/>
              </a:ext>
            </a:extLst>
          </p:cNvPr>
          <p:cNvCxnSpPr>
            <a:cxnSpLocks/>
          </p:cNvCxnSpPr>
          <p:nvPr/>
        </p:nvCxnSpPr>
        <p:spPr>
          <a:xfrm>
            <a:off x="14036040" y="11010509"/>
            <a:ext cx="92265" cy="629041"/>
          </a:xfrm>
          <a:prstGeom prst="straightConnector1">
            <a:avLst/>
          </a:prstGeom>
          <a:ln w="444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2A66DD91-C4FA-724A-AD4C-1D62F3EF0800}"/>
              </a:ext>
            </a:extLst>
          </p:cNvPr>
          <p:cNvCxnSpPr>
            <a:cxnSpLocks/>
          </p:cNvCxnSpPr>
          <p:nvPr/>
        </p:nvCxnSpPr>
        <p:spPr>
          <a:xfrm>
            <a:off x="13308573" y="11010509"/>
            <a:ext cx="92265" cy="629041"/>
          </a:xfrm>
          <a:prstGeom prst="straightConnector1">
            <a:avLst/>
          </a:prstGeom>
          <a:ln w="444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A19F2554-AD08-B582-17A6-616082D419F8}"/>
              </a:ext>
            </a:extLst>
          </p:cNvPr>
          <p:cNvCxnSpPr>
            <a:cxnSpLocks/>
          </p:cNvCxnSpPr>
          <p:nvPr/>
        </p:nvCxnSpPr>
        <p:spPr>
          <a:xfrm>
            <a:off x="12371452" y="11056696"/>
            <a:ext cx="92265" cy="629041"/>
          </a:xfrm>
          <a:prstGeom prst="straightConnector1">
            <a:avLst/>
          </a:prstGeom>
          <a:ln w="444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7C59C217-AA51-206E-1AAE-87648DEB39D6}"/>
              </a:ext>
            </a:extLst>
          </p:cNvPr>
          <p:cNvCxnSpPr>
            <a:cxnSpLocks/>
          </p:cNvCxnSpPr>
          <p:nvPr/>
        </p:nvCxnSpPr>
        <p:spPr>
          <a:xfrm flipH="1">
            <a:off x="13792200" y="11025999"/>
            <a:ext cx="133600" cy="594501"/>
          </a:xfrm>
          <a:prstGeom prst="straightConnector1">
            <a:avLst/>
          </a:prstGeom>
          <a:ln w="444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A1CA656F-ED4E-B92F-78E4-6AE5AC150028}"/>
              </a:ext>
            </a:extLst>
          </p:cNvPr>
          <p:cNvCxnSpPr>
            <a:cxnSpLocks/>
          </p:cNvCxnSpPr>
          <p:nvPr/>
        </p:nvCxnSpPr>
        <p:spPr>
          <a:xfrm flipH="1">
            <a:off x="13069274" y="11010509"/>
            <a:ext cx="66800" cy="324241"/>
          </a:xfrm>
          <a:prstGeom prst="straightConnector1">
            <a:avLst/>
          </a:prstGeom>
          <a:ln w="444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9F21B787-F0F9-953F-0D26-5C0990B1F6F7}"/>
              </a:ext>
            </a:extLst>
          </p:cNvPr>
          <p:cNvCxnSpPr>
            <a:cxnSpLocks/>
          </p:cNvCxnSpPr>
          <p:nvPr/>
        </p:nvCxnSpPr>
        <p:spPr>
          <a:xfrm flipH="1">
            <a:off x="12102509" y="11022082"/>
            <a:ext cx="182740" cy="452906"/>
          </a:xfrm>
          <a:prstGeom prst="straightConnector1">
            <a:avLst/>
          </a:prstGeom>
          <a:ln w="444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3" name="Graphic 342" descr="Calculator with solid fill">
            <a:extLst>
              <a:ext uri="{FF2B5EF4-FFF2-40B4-BE49-F238E27FC236}">
                <a16:creationId xmlns:a16="http://schemas.microsoft.com/office/drawing/2014/main" id="{DB4A0C4F-D444-2F6E-8843-52ABD2D4911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132509" y="10201130"/>
            <a:ext cx="914400" cy="914400"/>
          </a:xfrm>
          <a:prstGeom prst="rect">
            <a:avLst/>
          </a:prstGeom>
        </p:spPr>
      </p:pic>
      <p:sp>
        <p:nvSpPr>
          <p:cNvPr id="344" name="TextBox 343">
            <a:extLst>
              <a:ext uri="{FF2B5EF4-FFF2-40B4-BE49-F238E27FC236}">
                <a16:creationId xmlns:a16="http://schemas.microsoft.com/office/drawing/2014/main" id="{AC8655F4-A36A-C218-3120-A032A56EAFDE}"/>
              </a:ext>
            </a:extLst>
          </p:cNvPr>
          <p:cNvSpPr txBox="1"/>
          <p:nvPr/>
        </p:nvSpPr>
        <p:spPr>
          <a:xfrm>
            <a:off x="14512408" y="9408356"/>
            <a:ext cx="208517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Parameter Calculation</a:t>
            </a:r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30A82595-404B-D223-1015-7EA9A0112EBC}"/>
              </a:ext>
            </a:extLst>
          </p:cNvPr>
          <p:cNvCxnSpPr>
            <a:cxnSpLocks/>
          </p:cNvCxnSpPr>
          <p:nvPr/>
        </p:nvCxnSpPr>
        <p:spPr>
          <a:xfrm>
            <a:off x="16438049" y="9697543"/>
            <a:ext cx="2261763" cy="0"/>
          </a:xfrm>
          <a:prstGeom prst="line">
            <a:avLst/>
          </a:prstGeom>
          <a:ln w="2540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D540A54-E763-895D-24C1-01A911C7940D}"/>
              </a:ext>
            </a:extLst>
          </p:cNvPr>
          <p:cNvCxnSpPr>
            <a:cxnSpLocks/>
          </p:cNvCxnSpPr>
          <p:nvPr/>
        </p:nvCxnSpPr>
        <p:spPr>
          <a:xfrm>
            <a:off x="16723167" y="9746671"/>
            <a:ext cx="0" cy="719764"/>
          </a:xfrm>
          <a:prstGeom prst="line">
            <a:avLst/>
          </a:prstGeom>
          <a:ln w="190500">
            <a:solidFill>
              <a:schemeClr val="tx2">
                <a:lumMod val="90000"/>
                <a:lumOff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D8FBB2C1-CFCB-D953-F7D9-9255A825111C}"/>
              </a:ext>
            </a:extLst>
          </p:cNvPr>
          <p:cNvCxnSpPr>
            <a:cxnSpLocks/>
          </p:cNvCxnSpPr>
          <p:nvPr/>
        </p:nvCxnSpPr>
        <p:spPr>
          <a:xfrm>
            <a:off x="17767150" y="9728157"/>
            <a:ext cx="0" cy="738278"/>
          </a:xfrm>
          <a:prstGeom prst="line">
            <a:avLst/>
          </a:prstGeom>
          <a:ln w="190500">
            <a:solidFill>
              <a:schemeClr val="tx2">
                <a:lumMod val="90000"/>
                <a:lumOff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83261DAE-6EB0-AFF3-6C32-A101CC8F322E}"/>
              </a:ext>
            </a:extLst>
          </p:cNvPr>
          <p:cNvCxnSpPr>
            <a:cxnSpLocks/>
          </p:cNvCxnSpPr>
          <p:nvPr/>
        </p:nvCxnSpPr>
        <p:spPr>
          <a:xfrm>
            <a:off x="18602684" y="9721647"/>
            <a:ext cx="0" cy="744788"/>
          </a:xfrm>
          <a:prstGeom prst="line">
            <a:avLst/>
          </a:prstGeom>
          <a:ln w="190500">
            <a:solidFill>
              <a:schemeClr val="tx2">
                <a:lumMod val="90000"/>
                <a:lumOff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1" name="Graphic 350">
            <a:extLst>
              <a:ext uri="{FF2B5EF4-FFF2-40B4-BE49-F238E27FC236}">
                <a16:creationId xmlns:a16="http://schemas.microsoft.com/office/drawing/2014/main" id="{2B31E38F-DB8B-A750-920C-BBBBC7D314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39540" y="9656146"/>
            <a:ext cx="726509" cy="908136"/>
          </a:xfrm>
          <a:prstGeom prst="rect">
            <a:avLst/>
          </a:prstGeom>
        </p:spPr>
      </p:pic>
      <p:pic>
        <p:nvPicPr>
          <p:cNvPr id="352" name="Graphic 351">
            <a:extLst>
              <a:ext uri="{FF2B5EF4-FFF2-40B4-BE49-F238E27FC236}">
                <a16:creationId xmlns:a16="http://schemas.microsoft.com/office/drawing/2014/main" id="{7C460E32-0092-099F-A68F-AB985ACB8E8C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8062711" y="9847231"/>
            <a:ext cx="245546" cy="625026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52FB47ED-2286-CD5D-60F3-AE7C920E48C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6960409" y="9939124"/>
            <a:ext cx="575626" cy="335782"/>
          </a:xfrm>
          <a:prstGeom prst="rect">
            <a:avLst/>
          </a:prstGeom>
        </p:spPr>
      </p:pic>
      <p:sp>
        <p:nvSpPr>
          <p:cNvPr id="359" name="TextBox 358">
            <a:extLst>
              <a:ext uri="{FF2B5EF4-FFF2-40B4-BE49-F238E27FC236}">
                <a16:creationId xmlns:a16="http://schemas.microsoft.com/office/drawing/2014/main" id="{1EE9AC1E-75C3-6FA6-CDFE-36C1D31AE2C8}"/>
              </a:ext>
            </a:extLst>
          </p:cNvPr>
          <p:cNvSpPr txBox="1"/>
          <p:nvPr/>
        </p:nvSpPr>
        <p:spPr>
          <a:xfrm>
            <a:off x="16653693" y="10345396"/>
            <a:ext cx="208517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Tree Search</a:t>
            </a:r>
          </a:p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Heuristic</a:t>
            </a:r>
          </a:p>
        </p:txBody>
      </p:sp>
      <p:cxnSp>
        <p:nvCxnSpPr>
          <p:cNvPr id="365" name="Connector: Elbow 364">
            <a:extLst>
              <a:ext uri="{FF2B5EF4-FFF2-40B4-BE49-F238E27FC236}">
                <a16:creationId xmlns:a16="http://schemas.microsoft.com/office/drawing/2014/main" id="{8188C004-2908-8A0A-217D-4743F8EC1900}"/>
              </a:ext>
            </a:extLst>
          </p:cNvPr>
          <p:cNvCxnSpPr>
            <a:cxnSpLocks/>
          </p:cNvCxnSpPr>
          <p:nvPr/>
        </p:nvCxnSpPr>
        <p:spPr>
          <a:xfrm flipV="1">
            <a:off x="19125783" y="11010509"/>
            <a:ext cx="1108285" cy="801649"/>
          </a:xfrm>
          <a:prstGeom prst="bentConnector3">
            <a:avLst>
              <a:gd name="adj1" fmla="val 19879"/>
            </a:avLst>
          </a:prstGeom>
          <a:ln w="247650">
            <a:solidFill>
              <a:schemeClr val="tx2">
                <a:lumMod val="90000"/>
                <a:lumOff val="10000"/>
              </a:schemeClr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Arrow: Right 368">
            <a:extLst>
              <a:ext uri="{FF2B5EF4-FFF2-40B4-BE49-F238E27FC236}">
                <a16:creationId xmlns:a16="http://schemas.microsoft.com/office/drawing/2014/main" id="{ED41F220-FA7C-5DEF-FE54-B7DC73F30398}"/>
              </a:ext>
            </a:extLst>
          </p:cNvPr>
          <p:cNvSpPr/>
          <p:nvPr/>
        </p:nvSpPr>
        <p:spPr>
          <a:xfrm rot="5400000">
            <a:off x="17482604" y="11181522"/>
            <a:ext cx="446084" cy="50121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70" name="Graphic 369">
            <a:extLst>
              <a:ext uri="{FF2B5EF4-FFF2-40B4-BE49-F238E27FC236}">
                <a16:creationId xmlns:a16="http://schemas.microsoft.com/office/drawing/2014/main" id="{6A6C4AE1-28FD-BF43-0592-415FA4C9E1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728559" y="10424228"/>
            <a:ext cx="1426285" cy="1426285"/>
          </a:xfrm>
          <a:prstGeom prst="rect">
            <a:avLst/>
          </a:prstGeom>
        </p:spPr>
      </p:pic>
      <p:sp>
        <p:nvSpPr>
          <p:cNvPr id="371" name="TextBox 370">
            <a:extLst>
              <a:ext uri="{FF2B5EF4-FFF2-40B4-BE49-F238E27FC236}">
                <a16:creationId xmlns:a16="http://schemas.microsoft.com/office/drawing/2014/main" id="{B355E9E7-A0DF-04D6-2B1F-668293A130F3}"/>
              </a:ext>
            </a:extLst>
          </p:cNvPr>
          <p:cNvSpPr txBox="1"/>
          <p:nvPr/>
        </p:nvSpPr>
        <p:spPr>
          <a:xfrm>
            <a:off x="19431094" y="9568440"/>
            <a:ext cx="196020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Note</a:t>
            </a:r>
            <a:b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Choice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78991D4-0CEE-8E35-D60F-A389EED432AD}"/>
              </a:ext>
            </a:extLst>
          </p:cNvPr>
          <p:cNvCxnSpPr>
            <a:cxnSpLocks/>
          </p:cNvCxnSpPr>
          <p:nvPr/>
        </p:nvCxnSpPr>
        <p:spPr>
          <a:xfrm>
            <a:off x="14296571" y="10857609"/>
            <a:ext cx="4905829" cy="957020"/>
          </a:xfrm>
          <a:prstGeom prst="bentConnector3">
            <a:avLst>
              <a:gd name="adj1" fmla="val 9763"/>
            </a:avLst>
          </a:prstGeom>
          <a:ln w="254000">
            <a:solidFill>
              <a:schemeClr val="tx2">
                <a:lumMod val="90000"/>
                <a:lumOff val="10000"/>
              </a:schemeClr>
            </a:solidFill>
            <a:headEnd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58BF0D-9E96-82F5-FCFE-B768D821BC7B}"/>
              </a:ext>
            </a:extLst>
          </p:cNvPr>
          <p:cNvCxnSpPr>
            <a:cxnSpLocks/>
          </p:cNvCxnSpPr>
          <p:nvPr/>
        </p:nvCxnSpPr>
        <p:spPr>
          <a:xfrm flipV="1">
            <a:off x="6142271" y="22114956"/>
            <a:ext cx="746207" cy="657729"/>
          </a:xfrm>
          <a:prstGeom prst="straightConnector1">
            <a:avLst/>
          </a:prstGeom>
          <a:ln w="127000">
            <a:solidFill>
              <a:srgbClr val="BE141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0AFECB-9BD1-57E6-02AD-BAAA0585BFD7}"/>
              </a:ext>
            </a:extLst>
          </p:cNvPr>
          <p:cNvCxnSpPr>
            <a:cxnSpLocks/>
          </p:cNvCxnSpPr>
          <p:nvPr/>
        </p:nvCxnSpPr>
        <p:spPr>
          <a:xfrm flipH="1" flipV="1">
            <a:off x="3413760" y="27405447"/>
            <a:ext cx="1787994" cy="940953"/>
          </a:xfrm>
          <a:prstGeom prst="straightConnector1">
            <a:avLst/>
          </a:prstGeom>
          <a:ln w="127000">
            <a:solidFill>
              <a:srgbClr val="BE141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B472A71-D7AC-5F16-3687-03B117315228}"/>
              </a:ext>
            </a:extLst>
          </p:cNvPr>
          <p:cNvSpPr/>
          <p:nvPr/>
        </p:nvSpPr>
        <p:spPr>
          <a:xfrm>
            <a:off x="4881526" y="27636516"/>
            <a:ext cx="4652507" cy="1304953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200" dirty="0"/>
              <a:t>With heuristic guidance toward long notes, a viable option is found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BCF112-B4F5-4F0D-3D49-7E9DE92BF3D3}"/>
              </a:ext>
            </a:extLst>
          </p:cNvPr>
          <p:cNvSpPr/>
          <p:nvPr/>
        </p:nvSpPr>
        <p:spPr>
          <a:xfrm>
            <a:off x="2129293" y="22545200"/>
            <a:ext cx="4961612" cy="1040633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200" dirty="0"/>
              <a:t>No heuristic guidance, all predictions use short notes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6BB46B-8A36-6ED5-58A9-794FAD8DDC50}"/>
              </a:ext>
            </a:extLst>
          </p:cNvPr>
          <p:cNvCxnSpPr>
            <a:cxnSpLocks/>
          </p:cNvCxnSpPr>
          <p:nvPr/>
        </p:nvCxnSpPr>
        <p:spPr>
          <a:xfrm flipV="1">
            <a:off x="9534033" y="9707880"/>
            <a:ext cx="798687" cy="860496"/>
          </a:xfrm>
          <a:prstGeom prst="line">
            <a:avLst/>
          </a:prstGeom>
          <a:ln w="2540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omputer on a piano&#10;&#10;AI-generated content may be incorrect.">
            <a:extLst>
              <a:ext uri="{FF2B5EF4-FFF2-40B4-BE49-F238E27FC236}">
                <a16:creationId xmlns:a16="http://schemas.microsoft.com/office/drawing/2014/main" id="{5E8C5E1C-B3F1-963D-188E-43E6212AB9E7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9" b="5302"/>
          <a:stretch/>
        </p:blipFill>
        <p:spPr>
          <a:xfrm>
            <a:off x="11536103" y="19555736"/>
            <a:ext cx="9064800" cy="5029199"/>
          </a:xfrm>
          <a:prstGeom prst="rect">
            <a:avLst/>
          </a:prstGeom>
        </p:spPr>
      </p:pic>
      <p:pic>
        <p:nvPicPr>
          <p:cNvPr id="10" name="Graphic 9" descr="Dice with solid fill">
            <a:extLst>
              <a:ext uri="{FF2B5EF4-FFF2-40B4-BE49-F238E27FC236}">
                <a16:creationId xmlns:a16="http://schemas.microsoft.com/office/drawing/2014/main" id="{07C0800E-7CD4-DABE-94FC-1D20323F1B9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44148" y="7483950"/>
            <a:ext cx="1906572" cy="1906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832FCF-6ED9-5D22-1C44-1B1653EF6CF0}"/>
              </a:ext>
            </a:extLst>
          </p:cNvPr>
          <p:cNvSpPr txBox="1"/>
          <p:nvPr/>
        </p:nvSpPr>
        <p:spPr>
          <a:xfrm>
            <a:off x="1434505" y="6669284"/>
            <a:ext cx="316098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Random selection is arbitrary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2904AD0-C52F-1485-AB12-92DC2AD0A858}"/>
              </a:ext>
            </a:extLst>
          </p:cNvPr>
          <p:cNvSpPr/>
          <p:nvPr/>
        </p:nvSpPr>
        <p:spPr>
          <a:xfrm>
            <a:off x="4164392" y="7577383"/>
            <a:ext cx="2080847" cy="969855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18DA7D-01AE-431D-D11D-C879DD20753E}"/>
              </a:ext>
            </a:extLst>
          </p:cNvPr>
          <p:cNvSpPr txBox="1"/>
          <p:nvPr/>
        </p:nvSpPr>
        <p:spPr>
          <a:xfrm>
            <a:off x="6031628" y="6626552"/>
            <a:ext cx="316098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We instead search future options 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443A9F1-DC1A-168C-E9CD-5932D06FB1A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97610" y="7662297"/>
            <a:ext cx="215613" cy="603714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FE523042-972F-2580-0690-E9DC6059EA34}"/>
              </a:ext>
            </a:extLst>
          </p:cNvPr>
          <p:cNvSpPr/>
          <p:nvPr/>
        </p:nvSpPr>
        <p:spPr>
          <a:xfrm>
            <a:off x="6881777" y="7663542"/>
            <a:ext cx="354826" cy="448596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FF3E3F79-C91D-DCE4-3736-778557CA18A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57180" y="7493637"/>
            <a:ext cx="671120" cy="671120"/>
          </a:xfrm>
          <a:prstGeom prst="rect">
            <a:avLst/>
          </a:prstGeom>
        </p:spPr>
      </p:pic>
      <p:sp>
        <p:nvSpPr>
          <p:cNvPr id="41" name="Arrow: Right 40">
            <a:extLst>
              <a:ext uri="{FF2B5EF4-FFF2-40B4-BE49-F238E27FC236}">
                <a16:creationId xmlns:a16="http://schemas.microsoft.com/office/drawing/2014/main" id="{8B2FF238-17FE-988B-8CC9-60C318F8A803}"/>
              </a:ext>
            </a:extLst>
          </p:cNvPr>
          <p:cNvSpPr/>
          <p:nvPr/>
        </p:nvSpPr>
        <p:spPr>
          <a:xfrm>
            <a:off x="7729962" y="7644514"/>
            <a:ext cx="354826" cy="448596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A3313AC-D504-7522-BA93-D623E0584E3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139329" y="7504287"/>
            <a:ext cx="372863" cy="665828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13068220-8C62-9AB2-6AD1-1EC7F4D870F8}"/>
              </a:ext>
            </a:extLst>
          </p:cNvPr>
          <p:cNvSpPr/>
          <p:nvPr/>
        </p:nvSpPr>
        <p:spPr>
          <a:xfrm>
            <a:off x="6881777" y="8549098"/>
            <a:ext cx="354826" cy="448596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124FE07F-263A-E5B7-93A3-8CD1D170F871}"/>
              </a:ext>
            </a:extLst>
          </p:cNvPr>
          <p:cNvSpPr/>
          <p:nvPr/>
        </p:nvSpPr>
        <p:spPr>
          <a:xfrm>
            <a:off x="7729962" y="8531667"/>
            <a:ext cx="354826" cy="448596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621F20C5-D704-9152-CAA1-19A43E0A3E1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10872" y="8358189"/>
            <a:ext cx="237608" cy="712825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583D4E9-087F-8A4B-980D-174EA71FB64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140062" y="8336095"/>
            <a:ext cx="361869" cy="678504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0C9AE8A-0D8B-1B4B-2DBB-5148FA830CBA}"/>
              </a:ext>
            </a:extLst>
          </p:cNvPr>
          <p:cNvCxnSpPr>
            <a:cxnSpLocks/>
          </p:cNvCxnSpPr>
          <p:nvPr/>
        </p:nvCxnSpPr>
        <p:spPr>
          <a:xfrm>
            <a:off x="8922281" y="7803229"/>
            <a:ext cx="2700853" cy="0"/>
          </a:xfrm>
          <a:prstGeom prst="straightConnector1">
            <a:avLst/>
          </a:prstGeom>
          <a:ln w="254000">
            <a:solidFill>
              <a:schemeClr val="tx2">
                <a:lumMod val="90000"/>
                <a:lumOff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61E62BC-AE83-ECEF-4C04-38701072F685}"/>
              </a:ext>
            </a:extLst>
          </p:cNvPr>
          <p:cNvCxnSpPr>
            <a:cxnSpLocks/>
          </p:cNvCxnSpPr>
          <p:nvPr/>
        </p:nvCxnSpPr>
        <p:spPr>
          <a:xfrm>
            <a:off x="8922281" y="8703721"/>
            <a:ext cx="2700853" cy="0"/>
          </a:xfrm>
          <a:prstGeom prst="straightConnector1">
            <a:avLst/>
          </a:prstGeom>
          <a:ln w="254000">
            <a:solidFill>
              <a:schemeClr val="tx2">
                <a:lumMod val="90000"/>
                <a:lumOff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Graphic 62">
            <a:extLst>
              <a:ext uri="{FF2B5EF4-FFF2-40B4-BE49-F238E27FC236}">
                <a16:creationId xmlns:a16="http://schemas.microsoft.com/office/drawing/2014/main" id="{A89F7FAE-DD60-60CD-DB64-A8DFC99A38D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724040" y="7553432"/>
            <a:ext cx="255560" cy="65051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758F99A5-928C-B20A-B83E-B4E626D6024C}"/>
              </a:ext>
            </a:extLst>
          </p:cNvPr>
          <p:cNvSpPr txBox="1"/>
          <p:nvPr/>
        </p:nvSpPr>
        <p:spPr>
          <a:xfrm>
            <a:off x="10313695" y="6691585"/>
            <a:ext cx="495342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Assessing adherence to the broader musical structure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2A2771-1EFD-A64B-94B9-63537821F470}"/>
              </a:ext>
            </a:extLst>
          </p:cNvPr>
          <p:cNvSpPr txBox="1"/>
          <p:nvPr/>
        </p:nvSpPr>
        <p:spPr>
          <a:xfrm>
            <a:off x="11944277" y="7459999"/>
            <a:ext cx="654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B54346-E670-1022-84E6-85C9F1B5CFAF}"/>
              </a:ext>
            </a:extLst>
          </p:cNvPr>
          <p:cNvSpPr txBox="1"/>
          <p:nvPr/>
        </p:nvSpPr>
        <p:spPr>
          <a:xfrm>
            <a:off x="13233928" y="7468503"/>
            <a:ext cx="654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?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9FB4A95D-A0F9-964A-509E-A710D953DD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35258" y="8209868"/>
            <a:ext cx="788740" cy="985925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B34D1983-6C99-C7BF-B90C-64FA4ACF6400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725543" y="8408161"/>
            <a:ext cx="255560" cy="650517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DD0E6A4-4438-B936-39DE-0A54323EE11F}"/>
              </a:ext>
            </a:extLst>
          </p:cNvPr>
          <p:cNvSpPr txBox="1"/>
          <p:nvPr/>
        </p:nvSpPr>
        <p:spPr>
          <a:xfrm>
            <a:off x="11945780" y="8314728"/>
            <a:ext cx="654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5C2906-6ABA-9BC2-915C-6C4924EACAAD}"/>
              </a:ext>
            </a:extLst>
          </p:cNvPr>
          <p:cNvSpPr txBox="1"/>
          <p:nvPr/>
        </p:nvSpPr>
        <p:spPr>
          <a:xfrm>
            <a:off x="13235431" y="8323232"/>
            <a:ext cx="654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?</a:t>
            </a:r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ED847AB2-7349-E0FE-EC7A-AB523CFEBD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13743" y="8412550"/>
            <a:ext cx="647396" cy="647396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35C034EF-40A5-88E2-E54D-DDCF8B85F8F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868327" y="7758570"/>
            <a:ext cx="1426285" cy="1426285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95ED5036-472E-659E-E290-B0479DB97BB2}"/>
              </a:ext>
            </a:extLst>
          </p:cNvPr>
          <p:cNvSpPr txBox="1"/>
          <p:nvPr/>
        </p:nvSpPr>
        <p:spPr>
          <a:xfrm>
            <a:off x="16707518" y="6698430"/>
            <a:ext cx="385124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75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And hence generate better predictions</a:t>
            </a: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43AD68E7-EAE0-E869-E6E4-BB60439CCF2A}"/>
              </a:ext>
            </a:extLst>
          </p:cNvPr>
          <p:cNvCxnSpPr>
            <a:cxnSpLocks/>
          </p:cNvCxnSpPr>
          <p:nvPr/>
        </p:nvCxnSpPr>
        <p:spPr>
          <a:xfrm flipV="1">
            <a:off x="14638248" y="8256889"/>
            <a:ext cx="3326408" cy="451172"/>
          </a:xfrm>
          <a:prstGeom prst="curvedConnector3">
            <a:avLst/>
          </a:prstGeom>
          <a:ln w="25400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246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3313</TotalTime>
  <Words>424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Beyond Stochastic Selection: Guiding Musical Predictions with Monte Carlo Tree Search Scott Howsam, Charles Martin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Howsam</dc:creator>
  <cp:lastModifiedBy>Scott Howsam</cp:lastModifiedBy>
  <cp:revision>14</cp:revision>
  <dcterms:created xsi:type="dcterms:W3CDTF">2025-05-04T08:48:23Z</dcterms:created>
  <dcterms:modified xsi:type="dcterms:W3CDTF">2025-05-09T06:26:20Z</dcterms:modified>
</cp:coreProperties>
</file>