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24384000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29" y="-112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9D078-F230-4CEA-94FF-98481AA5727C}" type="datetimeFigureOut">
              <a:rPr lang="en-AU" smtClean="0"/>
              <a:t>22/05/2025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07D87-7AE3-4789-A0C7-A0153E6749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9230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9D078-F230-4CEA-94FF-98481AA5727C}" type="datetimeFigureOut">
              <a:rPr lang="en-AU" smtClean="0"/>
              <a:t>22/05/2025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07D87-7AE3-4789-A0C7-A0153E6749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7625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9D078-F230-4CEA-94FF-98481AA5727C}" type="datetimeFigureOut">
              <a:rPr lang="en-AU" smtClean="0"/>
              <a:t>22/05/2025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07D87-7AE3-4789-A0C7-A0153E6749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7301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9D078-F230-4CEA-94FF-98481AA5727C}" type="datetimeFigureOut">
              <a:rPr lang="en-AU" smtClean="0"/>
              <a:t>22/05/2025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07D87-7AE3-4789-A0C7-A0153E6749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3247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9D078-F230-4CEA-94FF-98481AA5727C}" type="datetimeFigureOut">
              <a:rPr lang="en-AU" smtClean="0"/>
              <a:t>22/05/2025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07D87-7AE3-4789-A0C7-A0153E6749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7385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9D078-F230-4CEA-94FF-98481AA5727C}" type="datetimeFigureOut">
              <a:rPr lang="en-AU" smtClean="0"/>
              <a:t>22/05/2025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07D87-7AE3-4789-A0C7-A0153E6749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977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9D078-F230-4CEA-94FF-98481AA5727C}" type="datetimeFigureOut">
              <a:rPr lang="en-AU" smtClean="0"/>
              <a:t>22/05/2025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07D87-7AE3-4789-A0C7-A0153E6749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1863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9D078-F230-4CEA-94FF-98481AA5727C}" type="datetimeFigureOut">
              <a:rPr lang="en-AU" smtClean="0"/>
              <a:t>22/05/2025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07D87-7AE3-4789-A0C7-A0153E6749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0620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9D078-F230-4CEA-94FF-98481AA5727C}" type="datetimeFigureOut">
              <a:rPr lang="en-AU" smtClean="0"/>
              <a:t>22/05/2025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07D87-7AE3-4789-A0C7-A0153E6749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6281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9D078-F230-4CEA-94FF-98481AA5727C}" type="datetimeFigureOut">
              <a:rPr lang="en-AU" smtClean="0"/>
              <a:t>22/05/2025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07D87-7AE3-4789-A0C7-A0153E6749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3180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9D078-F230-4CEA-94FF-98481AA5727C}" type="datetimeFigureOut">
              <a:rPr lang="en-AU" smtClean="0"/>
              <a:t>22/05/2025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07D87-7AE3-4789-A0C7-A0153E6749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424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D9D078-F230-4CEA-94FF-98481AA5727C}" type="datetimeFigureOut">
              <a:rPr lang="en-AU" smtClean="0"/>
              <a:t>22/05/2025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E07D87-7AE3-4789-A0C7-A0153E6749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4083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svg"/><Relationship Id="rId21" Type="http://schemas.openxmlformats.org/officeDocument/2006/relationships/image" Target="../media/image20.svg"/><Relationship Id="rId34" Type="http://schemas.openxmlformats.org/officeDocument/2006/relationships/image" Target="../media/image33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33" Type="http://schemas.openxmlformats.org/officeDocument/2006/relationships/image" Target="../media/image32.svg"/><Relationship Id="rId38" Type="http://schemas.openxmlformats.org/officeDocument/2006/relationships/image" Target="../media/image37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31" Type="http://schemas.openxmlformats.org/officeDocument/2006/relationships/image" Target="../media/image30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svg"/><Relationship Id="rId30" Type="http://schemas.openxmlformats.org/officeDocument/2006/relationships/image" Target="../media/image29.png"/><Relationship Id="rId35" Type="http://schemas.openxmlformats.org/officeDocument/2006/relationships/image" Target="../media/image34.svg"/><Relationship Id="rId8" Type="http://schemas.openxmlformats.org/officeDocument/2006/relationships/image" Target="../media/image7.png"/><Relationship Id="rId3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4" name="Straight Arrow Connector 223">
            <a:extLst>
              <a:ext uri="{FF2B5EF4-FFF2-40B4-BE49-F238E27FC236}">
                <a16:creationId xmlns:a16="http://schemas.microsoft.com/office/drawing/2014/main" id="{29324F81-4EFD-3EE9-F31C-A549DA90C791}"/>
              </a:ext>
            </a:extLst>
          </p:cNvPr>
          <p:cNvCxnSpPr>
            <a:cxnSpLocks/>
          </p:cNvCxnSpPr>
          <p:nvPr/>
        </p:nvCxnSpPr>
        <p:spPr>
          <a:xfrm flipV="1">
            <a:off x="12251348" y="4966735"/>
            <a:ext cx="586728" cy="1102280"/>
          </a:xfrm>
          <a:prstGeom prst="straightConnector1">
            <a:avLst/>
          </a:prstGeom>
          <a:ln w="50800">
            <a:solidFill>
              <a:srgbClr val="000000">
                <a:alpha val="50196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5" name="Title 1">
            <a:extLst>
              <a:ext uri="{FF2B5EF4-FFF2-40B4-BE49-F238E27FC236}">
                <a16:creationId xmlns:a16="http://schemas.microsoft.com/office/drawing/2014/main" id="{4506D038-866F-87DF-3D20-5D2FCD6EFF11}"/>
              </a:ext>
            </a:extLst>
          </p:cNvPr>
          <p:cNvSpPr txBox="1"/>
          <p:nvPr/>
        </p:nvSpPr>
        <p:spPr>
          <a:xfrm>
            <a:off x="7434184" y="4051590"/>
            <a:ext cx="13778905" cy="261110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3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AU" sz="2800" dirty="0">
              <a:solidFill>
                <a:schemeClr val="bg1"/>
              </a:solidFill>
            </a:endParaRP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80F24537-7BF4-6FE5-76F1-D29D56858C4D}"/>
              </a:ext>
            </a:extLst>
          </p:cNvPr>
          <p:cNvSpPr/>
          <p:nvPr/>
        </p:nvSpPr>
        <p:spPr>
          <a:xfrm>
            <a:off x="10423822" y="4556688"/>
            <a:ext cx="6530448" cy="2007324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7" name="Title 1">
            <a:extLst>
              <a:ext uri="{FF2B5EF4-FFF2-40B4-BE49-F238E27FC236}">
                <a16:creationId xmlns:a16="http://schemas.microsoft.com/office/drawing/2014/main" id="{5945D4C3-D828-BE07-A01D-A0A973223F81}"/>
              </a:ext>
            </a:extLst>
          </p:cNvPr>
          <p:cNvSpPr txBox="1"/>
          <p:nvPr/>
        </p:nvSpPr>
        <p:spPr>
          <a:xfrm>
            <a:off x="7434184" y="9469998"/>
            <a:ext cx="13778905" cy="261110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3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AU" sz="2800" dirty="0">
              <a:solidFill>
                <a:schemeClr val="bg1"/>
              </a:solidFill>
            </a:endParaRPr>
          </a:p>
        </p:txBody>
      </p:sp>
      <p:sp>
        <p:nvSpPr>
          <p:cNvPr id="230" name="Rectangle: Rounded Corners 229">
            <a:extLst>
              <a:ext uri="{FF2B5EF4-FFF2-40B4-BE49-F238E27FC236}">
                <a16:creationId xmlns:a16="http://schemas.microsoft.com/office/drawing/2014/main" id="{8B300FC7-10C5-8FC0-2FCF-FFDEF2338445}"/>
              </a:ext>
            </a:extLst>
          </p:cNvPr>
          <p:cNvSpPr/>
          <p:nvPr/>
        </p:nvSpPr>
        <p:spPr>
          <a:xfrm>
            <a:off x="499943" y="4368255"/>
            <a:ext cx="6553242" cy="229443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buSzPct val="70000"/>
              <a:buFont typeface="Aptos" panose="020B0004020202020204" pitchFamily="34" charset="0"/>
              <a:buChar char="●"/>
            </a:pPr>
            <a:r>
              <a:rPr lang="en-AU" sz="2750" dirty="0">
                <a:solidFill>
                  <a:schemeClr val="tx1"/>
                </a:solidFill>
              </a:rPr>
              <a:t>A neural network provides multiple predictions of valid notes to play</a:t>
            </a:r>
            <a:br>
              <a:rPr lang="en-AU" sz="2750" dirty="0">
                <a:solidFill>
                  <a:schemeClr val="tx1"/>
                </a:solidFill>
              </a:rPr>
            </a:br>
            <a:r>
              <a:rPr lang="en-AU" sz="2750" dirty="0">
                <a:solidFill>
                  <a:schemeClr val="tx1"/>
                </a:solidFill>
              </a:rPr>
              <a:t>next, with probabilities for each</a:t>
            </a:r>
          </a:p>
          <a:p>
            <a:pPr marL="457200" indent="-457200">
              <a:buSzPct val="70000"/>
              <a:buFont typeface="Aptos" panose="020B0004020202020204" pitchFamily="34" charset="0"/>
              <a:buChar char="●"/>
            </a:pPr>
            <a:r>
              <a:rPr lang="en-AU" sz="2750" dirty="0">
                <a:solidFill>
                  <a:schemeClr val="tx1"/>
                </a:solidFill>
              </a:rPr>
              <a:t>Output is selected stochastically</a:t>
            </a:r>
            <a:endParaRPr lang="en-AU" sz="2800" dirty="0">
              <a:solidFill>
                <a:schemeClr val="tx1"/>
              </a:solidFill>
            </a:endParaRPr>
          </a:p>
          <a:p>
            <a:pPr marL="457200" indent="-457200">
              <a:buSzPct val="70000"/>
              <a:buFont typeface="Aptos" panose="020B0004020202020204" pitchFamily="34" charset="0"/>
              <a:buChar char="●"/>
            </a:pPr>
            <a:r>
              <a:rPr lang="en-AU" sz="2800" dirty="0">
                <a:solidFill>
                  <a:schemeClr val="tx1"/>
                </a:solidFill>
              </a:rPr>
              <a:t>Surely there’s a better way!</a:t>
            </a:r>
            <a:endParaRPr lang="en-AU" sz="2750" dirty="0">
              <a:solidFill>
                <a:schemeClr val="tx1"/>
              </a:solidFill>
            </a:endParaRPr>
          </a:p>
        </p:txBody>
      </p:sp>
      <p:sp>
        <p:nvSpPr>
          <p:cNvPr id="231" name="Rectangle: Rounded Corners 230">
            <a:extLst>
              <a:ext uri="{FF2B5EF4-FFF2-40B4-BE49-F238E27FC236}">
                <a16:creationId xmlns:a16="http://schemas.microsoft.com/office/drawing/2014/main" id="{E83D6220-92E1-FF30-2D42-AD041FD5110F}"/>
              </a:ext>
            </a:extLst>
          </p:cNvPr>
          <p:cNvSpPr/>
          <p:nvPr/>
        </p:nvSpPr>
        <p:spPr>
          <a:xfrm>
            <a:off x="828596" y="4051590"/>
            <a:ext cx="5895935" cy="50509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900" dirty="0"/>
              <a:t>MDRNN-IMPSY</a:t>
            </a:r>
          </a:p>
        </p:txBody>
      </p:sp>
      <p:sp>
        <p:nvSpPr>
          <p:cNvPr id="232" name="Rectangle: Rounded Corners 231">
            <a:extLst>
              <a:ext uri="{FF2B5EF4-FFF2-40B4-BE49-F238E27FC236}">
                <a16:creationId xmlns:a16="http://schemas.microsoft.com/office/drawing/2014/main" id="{DBFABE18-C1C2-B75C-2B4C-C8F5FD9032B6}"/>
              </a:ext>
            </a:extLst>
          </p:cNvPr>
          <p:cNvSpPr/>
          <p:nvPr/>
        </p:nvSpPr>
        <p:spPr>
          <a:xfrm>
            <a:off x="499943" y="9786663"/>
            <a:ext cx="6553242" cy="229443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buSzPct val="70000"/>
              <a:buFont typeface="Aptos" panose="020B0004020202020204" pitchFamily="34" charset="0"/>
              <a:buChar char="●"/>
            </a:pPr>
            <a:r>
              <a:rPr lang="en-AU" sz="2750" dirty="0">
                <a:solidFill>
                  <a:schemeClr val="tx1"/>
                </a:solidFill>
              </a:rPr>
              <a:t>MDRNN generates multiple options</a:t>
            </a:r>
          </a:p>
          <a:p>
            <a:pPr marL="457200" indent="-457200">
              <a:buSzPct val="70000"/>
              <a:buFont typeface="Aptos" panose="020B0004020202020204" pitchFamily="34" charset="0"/>
              <a:buChar char="●"/>
            </a:pPr>
            <a:r>
              <a:rPr lang="en-AU" sz="2750" dirty="0">
                <a:solidFill>
                  <a:schemeClr val="tx1"/>
                </a:solidFill>
              </a:rPr>
              <a:t>Important parameters of the piece</a:t>
            </a:r>
            <a:br>
              <a:rPr lang="en-AU" sz="2750" dirty="0">
                <a:solidFill>
                  <a:schemeClr val="tx1"/>
                </a:solidFill>
              </a:rPr>
            </a:br>
            <a:r>
              <a:rPr lang="en-AU" sz="2750" dirty="0">
                <a:solidFill>
                  <a:schemeClr val="tx1"/>
                </a:solidFill>
              </a:rPr>
              <a:t>are determined from previous context</a:t>
            </a:r>
          </a:p>
          <a:p>
            <a:pPr marL="457200" indent="-457200">
              <a:buSzPct val="70000"/>
              <a:buFont typeface="Aptos" panose="020B0004020202020204" pitchFamily="34" charset="0"/>
              <a:buChar char="●"/>
            </a:pPr>
            <a:r>
              <a:rPr lang="en-AU" sz="2750" dirty="0">
                <a:solidFill>
                  <a:schemeClr val="tx1"/>
                </a:solidFill>
              </a:rPr>
              <a:t>MCTS looks for musical options which maintain these parameters</a:t>
            </a:r>
          </a:p>
          <a:p>
            <a:pPr marL="457200" indent="-457200">
              <a:buSzPct val="300000"/>
              <a:buFont typeface="Arial" panose="020B0604020202020204" pitchFamily="34" charset="0"/>
              <a:buChar char="•"/>
            </a:pPr>
            <a:endParaRPr lang="en-AU" sz="2800" dirty="0">
              <a:solidFill>
                <a:schemeClr val="tx1"/>
              </a:solidFill>
            </a:endParaRPr>
          </a:p>
        </p:txBody>
      </p:sp>
      <p:sp>
        <p:nvSpPr>
          <p:cNvPr id="233" name="Rectangle: Rounded Corners 232">
            <a:extLst>
              <a:ext uri="{FF2B5EF4-FFF2-40B4-BE49-F238E27FC236}">
                <a16:creationId xmlns:a16="http://schemas.microsoft.com/office/drawing/2014/main" id="{931F3F69-9EEC-60CC-FFAF-2C3B4E75E34A}"/>
              </a:ext>
            </a:extLst>
          </p:cNvPr>
          <p:cNvSpPr/>
          <p:nvPr/>
        </p:nvSpPr>
        <p:spPr>
          <a:xfrm>
            <a:off x="828596" y="9469998"/>
            <a:ext cx="5895935" cy="50509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900" dirty="0"/>
              <a:t>MCTS-IMPSY</a:t>
            </a:r>
          </a:p>
        </p:txBody>
      </p:sp>
      <p:sp>
        <p:nvSpPr>
          <p:cNvPr id="234" name="Arrow: Right 233">
            <a:extLst>
              <a:ext uri="{FF2B5EF4-FFF2-40B4-BE49-F238E27FC236}">
                <a16:creationId xmlns:a16="http://schemas.microsoft.com/office/drawing/2014/main" id="{C1EF04E3-A6AE-D452-2028-5FD04801E248}"/>
              </a:ext>
            </a:extLst>
          </p:cNvPr>
          <p:cNvSpPr/>
          <p:nvPr/>
        </p:nvSpPr>
        <p:spPr>
          <a:xfrm>
            <a:off x="6752899" y="5120844"/>
            <a:ext cx="709653" cy="50121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5" name="Arrow: Right 234">
            <a:extLst>
              <a:ext uri="{FF2B5EF4-FFF2-40B4-BE49-F238E27FC236}">
                <a16:creationId xmlns:a16="http://schemas.microsoft.com/office/drawing/2014/main" id="{0308A9E3-A70A-4A13-5A93-9448B0DBC2EE}"/>
              </a:ext>
            </a:extLst>
          </p:cNvPr>
          <p:cNvSpPr/>
          <p:nvPr/>
        </p:nvSpPr>
        <p:spPr>
          <a:xfrm>
            <a:off x="6698817" y="10477642"/>
            <a:ext cx="709653" cy="50121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36" name="Graphic 235">
            <a:extLst>
              <a:ext uri="{FF2B5EF4-FFF2-40B4-BE49-F238E27FC236}">
                <a16:creationId xmlns:a16="http://schemas.microsoft.com/office/drawing/2014/main" id="{40B73F53-4B36-74C2-B1D0-31B9FCB415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33456" y="7386043"/>
            <a:ext cx="788740" cy="985925"/>
          </a:xfrm>
          <a:prstGeom prst="rect">
            <a:avLst/>
          </a:prstGeom>
        </p:spPr>
      </p:pic>
      <p:pic>
        <p:nvPicPr>
          <p:cNvPr id="237" name="Graphic 236" descr="Checkmark with solid fill">
            <a:extLst>
              <a:ext uri="{FF2B5EF4-FFF2-40B4-BE49-F238E27FC236}">
                <a16:creationId xmlns:a16="http://schemas.microsoft.com/office/drawing/2014/main" id="{22D2DA32-C188-D64B-2245-9CA297C865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351139" y="8415268"/>
            <a:ext cx="647395" cy="647395"/>
          </a:xfrm>
          <a:prstGeom prst="rect">
            <a:avLst/>
          </a:prstGeom>
        </p:spPr>
      </p:pic>
      <p:pic>
        <p:nvPicPr>
          <p:cNvPr id="238" name="Graphic 237" descr="Close with solid fill">
            <a:extLst>
              <a:ext uri="{FF2B5EF4-FFF2-40B4-BE49-F238E27FC236}">
                <a16:creationId xmlns:a16="http://schemas.microsoft.com/office/drawing/2014/main" id="{DF7A5137-AE5A-5DDB-9D67-43CAF18D37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381281" y="7581827"/>
            <a:ext cx="586051" cy="586051"/>
          </a:xfrm>
          <a:prstGeom prst="rect">
            <a:avLst/>
          </a:prstGeom>
        </p:spPr>
      </p:pic>
      <p:sp>
        <p:nvSpPr>
          <p:cNvPr id="239" name="TextBox 238">
            <a:extLst>
              <a:ext uri="{FF2B5EF4-FFF2-40B4-BE49-F238E27FC236}">
                <a16:creationId xmlns:a16="http://schemas.microsoft.com/office/drawing/2014/main" id="{6FC05904-327D-EEC8-90DD-E95E32BEF3F8}"/>
              </a:ext>
            </a:extLst>
          </p:cNvPr>
          <p:cNvSpPr txBox="1"/>
          <p:nvPr/>
        </p:nvSpPr>
        <p:spPr>
          <a:xfrm>
            <a:off x="7434183" y="4085911"/>
            <a:ext cx="2824311" cy="5155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AU" sz="2750" b="1" dirty="0"/>
              <a:t>Musical Context</a:t>
            </a:r>
          </a:p>
        </p:txBody>
      </p:sp>
      <p:pic>
        <p:nvPicPr>
          <p:cNvPr id="240" name="Graphic 239" descr="Music notes with solid fill">
            <a:extLst>
              <a:ext uri="{FF2B5EF4-FFF2-40B4-BE49-F238E27FC236}">
                <a16:creationId xmlns:a16="http://schemas.microsoft.com/office/drawing/2014/main" id="{20433D55-2B62-CCBA-C742-6A524DA665A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25513" y="4208408"/>
            <a:ext cx="2614129" cy="2614129"/>
          </a:xfrm>
          <a:prstGeom prst="rect">
            <a:avLst/>
          </a:prstGeom>
        </p:spPr>
      </p:pic>
      <p:sp>
        <p:nvSpPr>
          <p:cNvPr id="241" name="TextBox 240">
            <a:extLst>
              <a:ext uri="{FF2B5EF4-FFF2-40B4-BE49-F238E27FC236}">
                <a16:creationId xmlns:a16="http://schemas.microsoft.com/office/drawing/2014/main" id="{2C575104-663F-12DC-0C71-244CD81C8AF5}"/>
              </a:ext>
            </a:extLst>
          </p:cNvPr>
          <p:cNvSpPr txBox="1"/>
          <p:nvPr/>
        </p:nvSpPr>
        <p:spPr>
          <a:xfrm>
            <a:off x="7441333" y="9520951"/>
            <a:ext cx="2824311" cy="5155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AU" sz="2750" b="1" dirty="0"/>
              <a:t>Musical Context</a:t>
            </a:r>
          </a:p>
        </p:txBody>
      </p:sp>
      <p:pic>
        <p:nvPicPr>
          <p:cNvPr id="242" name="Graphic 241" descr="Music notes with solid fill">
            <a:extLst>
              <a:ext uri="{FF2B5EF4-FFF2-40B4-BE49-F238E27FC236}">
                <a16:creationId xmlns:a16="http://schemas.microsoft.com/office/drawing/2014/main" id="{6C266218-F9BF-427E-6E3E-51B61CC13A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48485" y="9671793"/>
            <a:ext cx="2614129" cy="2614129"/>
          </a:xfrm>
          <a:prstGeom prst="rect">
            <a:avLst/>
          </a:prstGeom>
        </p:spPr>
      </p:pic>
      <p:sp>
        <p:nvSpPr>
          <p:cNvPr id="243" name="Rectangle 242">
            <a:extLst>
              <a:ext uri="{FF2B5EF4-FFF2-40B4-BE49-F238E27FC236}">
                <a16:creationId xmlns:a16="http://schemas.microsoft.com/office/drawing/2014/main" id="{EE60381C-576F-F330-C87E-A33AB1543843}"/>
              </a:ext>
            </a:extLst>
          </p:cNvPr>
          <p:cNvSpPr/>
          <p:nvPr/>
        </p:nvSpPr>
        <p:spPr>
          <a:xfrm>
            <a:off x="12838076" y="4696024"/>
            <a:ext cx="1454934" cy="171728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750" dirty="0"/>
              <a:t>Mixture Density Network</a:t>
            </a: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FB0B2ED8-0405-5C6F-8A9D-94EC973E88FD}"/>
              </a:ext>
            </a:extLst>
          </p:cNvPr>
          <p:cNvSpPr txBox="1"/>
          <p:nvPr/>
        </p:nvSpPr>
        <p:spPr>
          <a:xfrm>
            <a:off x="10257289" y="4047954"/>
            <a:ext cx="7030590" cy="5155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AU" sz="2750" b="1" dirty="0">
                <a:solidFill>
                  <a:srgbClr val="BE1414"/>
                </a:solidFill>
              </a:rPr>
              <a:t>Mixture Density Recurrent Neural Network</a:t>
            </a: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BEA91ABB-B2AF-F586-2CDD-9ABD46A93265}"/>
              </a:ext>
            </a:extLst>
          </p:cNvPr>
          <p:cNvSpPr/>
          <p:nvPr/>
        </p:nvSpPr>
        <p:spPr>
          <a:xfrm>
            <a:off x="10573719" y="4696024"/>
            <a:ext cx="1677629" cy="150555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750" dirty="0"/>
              <a:t>Recurrent</a:t>
            </a:r>
          </a:p>
          <a:p>
            <a:pPr algn="ctr"/>
            <a:r>
              <a:rPr lang="en-AU" sz="2750" dirty="0"/>
              <a:t>Neural</a:t>
            </a:r>
          </a:p>
          <a:p>
            <a:pPr algn="ctr"/>
            <a:r>
              <a:rPr lang="en-AU" sz="2750" dirty="0"/>
              <a:t>Network</a:t>
            </a:r>
          </a:p>
        </p:txBody>
      </p:sp>
      <p:cxnSp>
        <p:nvCxnSpPr>
          <p:cNvPr id="246" name="Straight Arrow Connector 245">
            <a:extLst>
              <a:ext uri="{FF2B5EF4-FFF2-40B4-BE49-F238E27FC236}">
                <a16:creationId xmlns:a16="http://schemas.microsoft.com/office/drawing/2014/main" id="{0B87EF45-E189-1108-635D-33EA3458BA0D}"/>
              </a:ext>
            </a:extLst>
          </p:cNvPr>
          <p:cNvCxnSpPr>
            <a:cxnSpLocks/>
          </p:cNvCxnSpPr>
          <p:nvPr/>
        </p:nvCxnSpPr>
        <p:spPr>
          <a:xfrm>
            <a:off x="12251348" y="4966735"/>
            <a:ext cx="586728" cy="1102280"/>
          </a:xfrm>
          <a:prstGeom prst="straightConnector1">
            <a:avLst/>
          </a:prstGeom>
          <a:ln w="50800">
            <a:solidFill>
              <a:srgbClr val="000000">
                <a:alpha val="50196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Arrow Connector 246">
            <a:extLst>
              <a:ext uri="{FF2B5EF4-FFF2-40B4-BE49-F238E27FC236}">
                <a16:creationId xmlns:a16="http://schemas.microsoft.com/office/drawing/2014/main" id="{CB52547B-9B92-A965-6ABF-ABF10F54E9CF}"/>
              </a:ext>
            </a:extLst>
          </p:cNvPr>
          <p:cNvCxnSpPr>
            <a:cxnSpLocks/>
            <a:stCxn id="245" idx="3"/>
            <a:endCxn id="243" idx="1"/>
          </p:cNvCxnSpPr>
          <p:nvPr/>
        </p:nvCxnSpPr>
        <p:spPr>
          <a:xfrm>
            <a:off x="12251348" y="5448799"/>
            <a:ext cx="586728" cy="105866"/>
          </a:xfrm>
          <a:prstGeom prst="straightConnector1">
            <a:avLst/>
          </a:prstGeom>
          <a:ln w="50800">
            <a:solidFill>
              <a:srgbClr val="000000">
                <a:alpha val="50196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Arrow Connector 247">
            <a:extLst>
              <a:ext uri="{FF2B5EF4-FFF2-40B4-BE49-F238E27FC236}">
                <a16:creationId xmlns:a16="http://schemas.microsoft.com/office/drawing/2014/main" id="{759A6506-7271-6864-9081-C8824859703A}"/>
              </a:ext>
            </a:extLst>
          </p:cNvPr>
          <p:cNvCxnSpPr>
            <a:cxnSpLocks/>
          </p:cNvCxnSpPr>
          <p:nvPr/>
        </p:nvCxnSpPr>
        <p:spPr>
          <a:xfrm>
            <a:off x="12251348" y="4966735"/>
            <a:ext cx="586728" cy="0"/>
          </a:xfrm>
          <a:prstGeom prst="straightConnector1">
            <a:avLst/>
          </a:prstGeom>
          <a:ln w="50800">
            <a:solidFill>
              <a:srgbClr val="000000">
                <a:alpha val="50196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5A628924-FB06-AA15-8FC9-68002D0733AC}"/>
              </a:ext>
            </a:extLst>
          </p:cNvPr>
          <p:cNvCxnSpPr>
            <a:cxnSpLocks/>
          </p:cNvCxnSpPr>
          <p:nvPr/>
        </p:nvCxnSpPr>
        <p:spPr>
          <a:xfrm>
            <a:off x="12251348" y="6069015"/>
            <a:ext cx="586728" cy="0"/>
          </a:xfrm>
          <a:prstGeom prst="straightConnector1">
            <a:avLst/>
          </a:prstGeom>
          <a:ln w="50800">
            <a:solidFill>
              <a:srgbClr val="000000">
                <a:alpha val="50196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Arrow Connector 249">
            <a:extLst>
              <a:ext uri="{FF2B5EF4-FFF2-40B4-BE49-F238E27FC236}">
                <a16:creationId xmlns:a16="http://schemas.microsoft.com/office/drawing/2014/main" id="{94A0545C-1547-2EED-155D-82FD77A25CDE}"/>
              </a:ext>
            </a:extLst>
          </p:cNvPr>
          <p:cNvCxnSpPr>
            <a:cxnSpLocks/>
            <a:stCxn id="245" idx="3"/>
          </p:cNvCxnSpPr>
          <p:nvPr/>
        </p:nvCxnSpPr>
        <p:spPr>
          <a:xfrm>
            <a:off x="12251348" y="5448799"/>
            <a:ext cx="586728" cy="620216"/>
          </a:xfrm>
          <a:prstGeom prst="straightConnector1">
            <a:avLst/>
          </a:prstGeom>
          <a:ln w="50800">
            <a:solidFill>
              <a:srgbClr val="000000">
                <a:alpha val="50196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Arrow Connector 250">
            <a:extLst>
              <a:ext uri="{FF2B5EF4-FFF2-40B4-BE49-F238E27FC236}">
                <a16:creationId xmlns:a16="http://schemas.microsoft.com/office/drawing/2014/main" id="{79598969-1DA7-6B03-7A02-9A7C21EE10DC}"/>
              </a:ext>
            </a:extLst>
          </p:cNvPr>
          <p:cNvCxnSpPr>
            <a:cxnSpLocks/>
            <a:stCxn id="245" idx="3"/>
          </p:cNvCxnSpPr>
          <p:nvPr/>
        </p:nvCxnSpPr>
        <p:spPr>
          <a:xfrm flipV="1">
            <a:off x="12251348" y="4966735"/>
            <a:ext cx="586728" cy="482064"/>
          </a:xfrm>
          <a:prstGeom prst="straightConnector1">
            <a:avLst/>
          </a:prstGeom>
          <a:ln w="50800">
            <a:solidFill>
              <a:srgbClr val="000000">
                <a:alpha val="50196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Arrow Connector 251">
            <a:extLst>
              <a:ext uri="{FF2B5EF4-FFF2-40B4-BE49-F238E27FC236}">
                <a16:creationId xmlns:a16="http://schemas.microsoft.com/office/drawing/2014/main" id="{8101990B-79E2-E1CA-CABF-D218C1FD55F8}"/>
              </a:ext>
            </a:extLst>
          </p:cNvPr>
          <p:cNvCxnSpPr>
            <a:cxnSpLocks/>
            <a:endCxn id="243" idx="1"/>
          </p:cNvCxnSpPr>
          <p:nvPr/>
        </p:nvCxnSpPr>
        <p:spPr>
          <a:xfrm>
            <a:off x="12251348" y="4966735"/>
            <a:ext cx="586728" cy="587930"/>
          </a:xfrm>
          <a:prstGeom prst="straightConnector1">
            <a:avLst/>
          </a:prstGeom>
          <a:ln w="50800">
            <a:solidFill>
              <a:srgbClr val="000000">
                <a:alpha val="50196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Arrow Connector 252">
            <a:extLst>
              <a:ext uri="{FF2B5EF4-FFF2-40B4-BE49-F238E27FC236}">
                <a16:creationId xmlns:a16="http://schemas.microsoft.com/office/drawing/2014/main" id="{F8880086-9700-61D1-66C2-35A50AB7E755}"/>
              </a:ext>
            </a:extLst>
          </p:cNvPr>
          <p:cNvCxnSpPr>
            <a:cxnSpLocks/>
            <a:endCxn id="243" idx="1"/>
          </p:cNvCxnSpPr>
          <p:nvPr/>
        </p:nvCxnSpPr>
        <p:spPr>
          <a:xfrm flipV="1">
            <a:off x="12251348" y="5554665"/>
            <a:ext cx="586728" cy="514350"/>
          </a:xfrm>
          <a:prstGeom prst="straightConnector1">
            <a:avLst/>
          </a:prstGeom>
          <a:ln w="50800">
            <a:solidFill>
              <a:srgbClr val="000000">
                <a:alpha val="50196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4" name="Arrow: Right 253">
            <a:extLst>
              <a:ext uri="{FF2B5EF4-FFF2-40B4-BE49-F238E27FC236}">
                <a16:creationId xmlns:a16="http://schemas.microsoft.com/office/drawing/2014/main" id="{DD74C509-FF78-853F-4988-89BC67AB86AC}"/>
              </a:ext>
            </a:extLst>
          </p:cNvPr>
          <p:cNvSpPr/>
          <p:nvPr/>
        </p:nvSpPr>
        <p:spPr>
          <a:xfrm>
            <a:off x="9698738" y="5292530"/>
            <a:ext cx="709653" cy="50121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5" name="Arrow: Right 254">
            <a:extLst>
              <a:ext uri="{FF2B5EF4-FFF2-40B4-BE49-F238E27FC236}">
                <a16:creationId xmlns:a16="http://schemas.microsoft.com/office/drawing/2014/main" id="{3390F14B-0ACE-9208-C63B-30A2549D461F}"/>
              </a:ext>
            </a:extLst>
          </p:cNvPr>
          <p:cNvSpPr/>
          <p:nvPr/>
        </p:nvSpPr>
        <p:spPr>
          <a:xfrm>
            <a:off x="14308441" y="5314509"/>
            <a:ext cx="571297" cy="367013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56" name="Graphic 255">
            <a:extLst>
              <a:ext uri="{FF2B5EF4-FFF2-40B4-BE49-F238E27FC236}">
                <a16:creationId xmlns:a16="http://schemas.microsoft.com/office/drawing/2014/main" id="{94FF1AC7-15CC-A358-41AF-2C964650FA1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308441" y="5120844"/>
            <a:ext cx="2645434" cy="1385887"/>
          </a:xfrm>
          <a:prstGeom prst="rect">
            <a:avLst/>
          </a:prstGeom>
        </p:spPr>
      </p:pic>
      <p:pic>
        <p:nvPicPr>
          <p:cNvPr id="257" name="Graphic 256">
            <a:extLst>
              <a:ext uri="{FF2B5EF4-FFF2-40B4-BE49-F238E27FC236}">
                <a16:creationId xmlns:a16="http://schemas.microsoft.com/office/drawing/2014/main" id="{19759F4C-1E0A-84DA-F01A-E23C8F000B0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6190520" y="4935159"/>
            <a:ext cx="252088" cy="705844"/>
          </a:xfrm>
          <a:prstGeom prst="rect">
            <a:avLst/>
          </a:prstGeom>
        </p:spPr>
      </p:pic>
      <p:pic>
        <p:nvPicPr>
          <p:cNvPr id="258" name="Graphic 257">
            <a:extLst>
              <a:ext uri="{FF2B5EF4-FFF2-40B4-BE49-F238E27FC236}">
                <a16:creationId xmlns:a16="http://schemas.microsoft.com/office/drawing/2014/main" id="{7A1610C6-F1C5-4BFE-D984-0D654DEEE2A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4929060" y="5367510"/>
            <a:ext cx="471242" cy="215007"/>
          </a:xfrm>
          <a:prstGeom prst="rect">
            <a:avLst/>
          </a:prstGeom>
        </p:spPr>
      </p:pic>
      <p:pic>
        <p:nvPicPr>
          <p:cNvPr id="259" name="Graphic 258">
            <a:extLst>
              <a:ext uri="{FF2B5EF4-FFF2-40B4-BE49-F238E27FC236}">
                <a16:creationId xmlns:a16="http://schemas.microsoft.com/office/drawing/2014/main" id="{33EFD7FC-EA3F-A464-0606-7B2FE31A53D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5469466" y="4950749"/>
            <a:ext cx="766414" cy="766414"/>
          </a:xfrm>
          <a:prstGeom prst="rect">
            <a:avLst/>
          </a:prstGeom>
        </p:spPr>
      </p:pic>
      <p:sp>
        <p:nvSpPr>
          <p:cNvPr id="260" name="TextBox 259">
            <a:extLst>
              <a:ext uri="{FF2B5EF4-FFF2-40B4-BE49-F238E27FC236}">
                <a16:creationId xmlns:a16="http://schemas.microsoft.com/office/drawing/2014/main" id="{82E8695B-1F46-5BEA-FCCE-D1308B632172}"/>
              </a:ext>
            </a:extLst>
          </p:cNvPr>
          <p:cNvSpPr txBox="1"/>
          <p:nvPr/>
        </p:nvSpPr>
        <p:spPr>
          <a:xfrm>
            <a:off x="14632908" y="4563044"/>
            <a:ext cx="2824311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AU" sz="2000" b="1" dirty="0"/>
              <a:t>Gaussian Mixture Model</a:t>
            </a:r>
          </a:p>
        </p:txBody>
      </p:sp>
      <p:pic>
        <p:nvPicPr>
          <p:cNvPr id="261" name="Graphic 260" descr="Dice with solid fill">
            <a:extLst>
              <a:ext uri="{FF2B5EF4-FFF2-40B4-BE49-F238E27FC236}">
                <a16:creationId xmlns:a16="http://schemas.microsoft.com/office/drawing/2014/main" id="{BA5BCC35-4D56-C615-15E6-0FFAEE8EEA3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7868327" y="5100284"/>
            <a:ext cx="1093325" cy="1093325"/>
          </a:xfrm>
          <a:prstGeom prst="rect">
            <a:avLst/>
          </a:prstGeom>
        </p:spPr>
      </p:pic>
      <p:sp>
        <p:nvSpPr>
          <p:cNvPr id="262" name="Arrow: Right 261">
            <a:extLst>
              <a:ext uri="{FF2B5EF4-FFF2-40B4-BE49-F238E27FC236}">
                <a16:creationId xmlns:a16="http://schemas.microsoft.com/office/drawing/2014/main" id="{FCA4561E-B741-9104-AE1A-56DF18BA5713}"/>
              </a:ext>
            </a:extLst>
          </p:cNvPr>
          <p:cNvSpPr/>
          <p:nvPr/>
        </p:nvSpPr>
        <p:spPr>
          <a:xfrm>
            <a:off x="16969701" y="5224871"/>
            <a:ext cx="909487" cy="50121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2900E5E2-78E0-706B-E822-B83F6C5683C8}"/>
              </a:ext>
            </a:extLst>
          </p:cNvPr>
          <p:cNvSpPr txBox="1"/>
          <p:nvPr/>
        </p:nvSpPr>
        <p:spPr>
          <a:xfrm>
            <a:off x="17367821" y="4232663"/>
            <a:ext cx="1948744" cy="93871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2750" b="1" dirty="0"/>
              <a:t>Stochastic</a:t>
            </a:r>
          </a:p>
          <a:p>
            <a:pPr algn="ctr"/>
            <a:r>
              <a:rPr lang="en-AU" sz="2750" b="1" dirty="0"/>
              <a:t>Sampling</a:t>
            </a:r>
          </a:p>
        </p:txBody>
      </p:sp>
      <p:sp>
        <p:nvSpPr>
          <p:cNvPr id="264" name="Arrow: Right 263">
            <a:extLst>
              <a:ext uri="{FF2B5EF4-FFF2-40B4-BE49-F238E27FC236}">
                <a16:creationId xmlns:a16="http://schemas.microsoft.com/office/drawing/2014/main" id="{98B72247-3B94-7F74-FED3-FC315C5A5B84}"/>
              </a:ext>
            </a:extLst>
          </p:cNvPr>
          <p:cNvSpPr/>
          <p:nvPr/>
        </p:nvSpPr>
        <p:spPr>
          <a:xfrm>
            <a:off x="18926245" y="5247407"/>
            <a:ext cx="1202860" cy="50121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65" name="Graphic 264">
            <a:extLst>
              <a:ext uri="{FF2B5EF4-FFF2-40B4-BE49-F238E27FC236}">
                <a16:creationId xmlns:a16="http://schemas.microsoft.com/office/drawing/2014/main" id="{23C60E80-1BF4-A080-E878-05E975CDB61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0273201" y="5015249"/>
            <a:ext cx="526219" cy="1473408"/>
          </a:xfrm>
          <a:prstGeom prst="rect">
            <a:avLst/>
          </a:prstGeom>
        </p:spPr>
      </p:pic>
      <p:sp>
        <p:nvSpPr>
          <p:cNvPr id="266" name="Arrow: Right 265">
            <a:extLst>
              <a:ext uri="{FF2B5EF4-FFF2-40B4-BE49-F238E27FC236}">
                <a16:creationId xmlns:a16="http://schemas.microsoft.com/office/drawing/2014/main" id="{E3D9C1EF-E260-1E60-9CC7-922C4C19A384}"/>
              </a:ext>
            </a:extLst>
          </p:cNvPr>
          <p:cNvSpPr/>
          <p:nvPr/>
        </p:nvSpPr>
        <p:spPr>
          <a:xfrm>
            <a:off x="9690149" y="10666992"/>
            <a:ext cx="709653" cy="50121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0AD6F6BC-A2F7-F5E7-9789-4D7608D43914}"/>
              </a:ext>
            </a:extLst>
          </p:cNvPr>
          <p:cNvSpPr/>
          <p:nvPr/>
        </p:nvSpPr>
        <p:spPr>
          <a:xfrm>
            <a:off x="10391430" y="10264547"/>
            <a:ext cx="1457023" cy="122608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750" b="1" dirty="0"/>
              <a:t>MDRNN</a:t>
            </a:r>
          </a:p>
        </p:txBody>
      </p:sp>
      <p:sp>
        <p:nvSpPr>
          <p:cNvPr id="268" name="Arrow: U-Turn 267">
            <a:extLst>
              <a:ext uri="{FF2B5EF4-FFF2-40B4-BE49-F238E27FC236}">
                <a16:creationId xmlns:a16="http://schemas.microsoft.com/office/drawing/2014/main" id="{932D3961-7B5B-32DF-6465-2C177338E22B}"/>
              </a:ext>
            </a:extLst>
          </p:cNvPr>
          <p:cNvSpPr/>
          <p:nvPr/>
        </p:nvSpPr>
        <p:spPr>
          <a:xfrm rot="10800000">
            <a:off x="11049965" y="6200072"/>
            <a:ext cx="709616" cy="364170"/>
          </a:xfrm>
          <a:prstGeom prst="uturnArrow">
            <a:avLst>
              <a:gd name="adj1" fmla="val 24921"/>
              <a:gd name="adj2" fmla="val 25000"/>
              <a:gd name="adj3" fmla="val 22791"/>
              <a:gd name="adj4" fmla="val 43141"/>
              <a:gd name="adj5" fmla="val 10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69" name="Arrow: U-Turn 268">
            <a:extLst>
              <a:ext uri="{FF2B5EF4-FFF2-40B4-BE49-F238E27FC236}">
                <a16:creationId xmlns:a16="http://schemas.microsoft.com/office/drawing/2014/main" id="{36BAF66F-ED73-39B8-9BAD-48ECDF98A1B6}"/>
              </a:ext>
            </a:extLst>
          </p:cNvPr>
          <p:cNvSpPr/>
          <p:nvPr/>
        </p:nvSpPr>
        <p:spPr>
          <a:xfrm rot="10800000">
            <a:off x="10693691" y="11496442"/>
            <a:ext cx="834746" cy="584658"/>
          </a:xfrm>
          <a:prstGeom prst="uturnArrow">
            <a:avLst>
              <a:gd name="adj1" fmla="val 24921"/>
              <a:gd name="adj2" fmla="val 25000"/>
              <a:gd name="adj3" fmla="val 22791"/>
              <a:gd name="adj4" fmla="val 43141"/>
              <a:gd name="adj5" fmla="val 10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273B37E6-2BDD-4258-CD9F-FF3C3095A09F}"/>
              </a:ext>
            </a:extLst>
          </p:cNvPr>
          <p:cNvSpPr txBox="1"/>
          <p:nvPr/>
        </p:nvSpPr>
        <p:spPr>
          <a:xfrm>
            <a:off x="12017452" y="9821227"/>
            <a:ext cx="2608504" cy="5155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AU" sz="2750" b="1" dirty="0"/>
              <a:t>Prediction Tree</a:t>
            </a:r>
          </a:p>
        </p:txBody>
      </p:sp>
      <p:cxnSp>
        <p:nvCxnSpPr>
          <p:cNvPr id="271" name="Straight Arrow Connector 270">
            <a:extLst>
              <a:ext uri="{FF2B5EF4-FFF2-40B4-BE49-F238E27FC236}">
                <a16:creationId xmlns:a16="http://schemas.microsoft.com/office/drawing/2014/main" id="{7290AE8C-58E4-E233-5AE2-71D3E9D60BBD}"/>
              </a:ext>
            </a:extLst>
          </p:cNvPr>
          <p:cNvCxnSpPr>
            <a:cxnSpLocks/>
          </p:cNvCxnSpPr>
          <p:nvPr/>
        </p:nvCxnSpPr>
        <p:spPr>
          <a:xfrm>
            <a:off x="10399802" y="9757836"/>
            <a:ext cx="4471532" cy="0"/>
          </a:xfrm>
          <a:prstGeom prst="straightConnector1">
            <a:avLst/>
          </a:prstGeom>
          <a:ln w="2540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2" name="Graphic 271">
            <a:extLst>
              <a:ext uri="{FF2B5EF4-FFF2-40B4-BE49-F238E27FC236}">
                <a16:creationId xmlns:a16="http://schemas.microsoft.com/office/drawing/2014/main" id="{5F1A971F-1C34-780C-546F-C0DDF7F9342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468754" y="10867823"/>
            <a:ext cx="215613" cy="603714"/>
          </a:xfrm>
          <a:prstGeom prst="rect">
            <a:avLst/>
          </a:prstGeom>
        </p:spPr>
      </p:pic>
      <p:pic>
        <p:nvPicPr>
          <p:cNvPr id="273" name="Graphic 272">
            <a:extLst>
              <a:ext uri="{FF2B5EF4-FFF2-40B4-BE49-F238E27FC236}">
                <a16:creationId xmlns:a16="http://schemas.microsoft.com/office/drawing/2014/main" id="{7CA0908F-EFE6-4C51-19DD-E23A7818829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3251599" y="10855260"/>
            <a:ext cx="374562" cy="170896"/>
          </a:xfrm>
          <a:prstGeom prst="rect">
            <a:avLst/>
          </a:prstGeom>
        </p:spPr>
      </p:pic>
      <p:pic>
        <p:nvPicPr>
          <p:cNvPr id="274" name="Graphic 273">
            <a:extLst>
              <a:ext uri="{FF2B5EF4-FFF2-40B4-BE49-F238E27FC236}">
                <a16:creationId xmlns:a16="http://schemas.microsoft.com/office/drawing/2014/main" id="{CCD9E6AC-5C01-1B33-2C65-73993C0A4F7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3900969" y="10426604"/>
            <a:ext cx="599552" cy="599552"/>
          </a:xfrm>
          <a:prstGeom prst="rect">
            <a:avLst/>
          </a:prstGeom>
        </p:spPr>
      </p:pic>
      <p:pic>
        <p:nvPicPr>
          <p:cNvPr id="275" name="Graphic 274">
            <a:extLst>
              <a:ext uri="{FF2B5EF4-FFF2-40B4-BE49-F238E27FC236}">
                <a16:creationId xmlns:a16="http://schemas.microsoft.com/office/drawing/2014/main" id="{91D3CF1A-9FDA-E6CE-4758-D1C61EEB885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3486859" y="11323977"/>
            <a:ext cx="166263" cy="498790"/>
          </a:xfrm>
          <a:prstGeom prst="rect">
            <a:avLst/>
          </a:prstGeom>
        </p:spPr>
      </p:pic>
      <p:pic>
        <p:nvPicPr>
          <p:cNvPr id="276" name="Graphic 275">
            <a:extLst>
              <a:ext uri="{FF2B5EF4-FFF2-40B4-BE49-F238E27FC236}">
                <a16:creationId xmlns:a16="http://schemas.microsoft.com/office/drawing/2014/main" id="{2C93750D-A504-763B-D4E8-15F5D215F06B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3185039" y="10247556"/>
            <a:ext cx="472789" cy="260034"/>
          </a:xfrm>
          <a:prstGeom prst="rect">
            <a:avLst/>
          </a:prstGeom>
        </p:spPr>
      </p:pic>
      <p:pic>
        <p:nvPicPr>
          <p:cNvPr id="277" name="Graphic 276">
            <a:extLst>
              <a:ext uri="{FF2B5EF4-FFF2-40B4-BE49-F238E27FC236}">
                <a16:creationId xmlns:a16="http://schemas.microsoft.com/office/drawing/2014/main" id="{0523A16A-2F6C-627F-EE73-FDDD8E5AFAA2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2152914" y="11413141"/>
            <a:ext cx="228600" cy="428625"/>
          </a:xfrm>
          <a:prstGeom prst="rect">
            <a:avLst/>
          </a:prstGeom>
        </p:spPr>
      </p:pic>
      <p:sp>
        <p:nvSpPr>
          <p:cNvPr id="278" name="Arrow: Right 277">
            <a:extLst>
              <a:ext uri="{FF2B5EF4-FFF2-40B4-BE49-F238E27FC236}">
                <a16:creationId xmlns:a16="http://schemas.microsoft.com/office/drawing/2014/main" id="{EABEB155-9DC3-F7F8-2784-0DB61566C500}"/>
              </a:ext>
            </a:extLst>
          </p:cNvPr>
          <p:cNvSpPr/>
          <p:nvPr/>
        </p:nvSpPr>
        <p:spPr>
          <a:xfrm>
            <a:off x="11881407" y="10614369"/>
            <a:ext cx="446084" cy="50121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79" name="Graphic 278">
            <a:extLst>
              <a:ext uri="{FF2B5EF4-FFF2-40B4-BE49-F238E27FC236}">
                <a16:creationId xmlns:a16="http://schemas.microsoft.com/office/drawing/2014/main" id="{BA086B12-4A11-43F7-E834-A7E79FD7061D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2544712" y="11365517"/>
            <a:ext cx="285750" cy="476250"/>
          </a:xfrm>
          <a:prstGeom prst="rect">
            <a:avLst/>
          </a:prstGeom>
        </p:spPr>
      </p:pic>
      <p:pic>
        <p:nvPicPr>
          <p:cNvPr id="280" name="Graphic 279">
            <a:extLst>
              <a:ext uri="{FF2B5EF4-FFF2-40B4-BE49-F238E27FC236}">
                <a16:creationId xmlns:a16="http://schemas.microsoft.com/office/drawing/2014/main" id="{9E97BD19-95AD-CE15-F65F-D51884B056E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936091" y="11336985"/>
            <a:ext cx="504781" cy="504781"/>
          </a:xfrm>
          <a:prstGeom prst="rect">
            <a:avLst/>
          </a:prstGeom>
        </p:spPr>
      </p:pic>
      <p:pic>
        <p:nvPicPr>
          <p:cNvPr id="281" name="Graphic 280">
            <a:extLst>
              <a:ext uri="{FF2B5EF4-FFF2-40B4-BE49-F238E27FC236}">
                <a16:creationId xmlns:a16="http://schemas.microsoft.com/office/drawing/2014/main" id="{C032B3E4-E2D5-F74A-1594-E63AD7567301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3783724" y="11680891"/>
            <a:ext cx="252000" cy="138599"/>
          </a:xfrm>
          <a:prstGeom prst="rect">
            <a:avLst/>
          </a:prstGeom>
        </p:spPr>
      </p:pic>
      <p:pic>
        <p:nvPicPr>
          <p:cNvPr id="282" name="Graphic 281">
            <a:extLst>
              <a:ext uri="{FF2B5EF4-FFF2-40B4-BE49-F238E27FC236}">
                <a16:creationId xmlns:a16="http://schemas.microsoft.com/office/drawing/2014/main" id="{4F001B0E-6BE1-34AB-377D-D2ED65917317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4255498" y="11378111"/>
            <a:ext cx="252000" cy="450001"/>
          </a:xfrm>
          <a:prstGeom prst="rect">
            <a:avLst/>
          </a:prstGeom>
        </p:spPr>
      </p:pic>
      <p:cxnSp>
        <p:nvCxnSpPr>
          <p:cNvPr id="283" name="Straight Arrow Connector 282">
            <a:extLst>
              <a:ext uri="{FF2B5EF4-FFF2-40B4-BE49-F238E27FC236}">
                <a16:creationId xmlns:a16="http://schemas.microsoft.com/office/drawing/2014/main" id="{650AABBE-2D62-DAF8-035E-D60951B7EB98}"/>
              </a:ext>
            </a:extLst>
          </p:cNvPr>
          <p:cNvCxnSpPr/>
          <p:nvPr/>
        </p:nvCxnSpPr>
        <p:spPr>
          <a:xfrm flipH="1">
            <a:off x="12723001" y="10437145"/>
            <a:ext cx="366054" cy="365523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Arrow Connector 283">
            <a:extLst>
              <a:ext uri="{FF2B5EF4-FFF2-40B4-BE49-F238E27FC236}">
                <a16:creationId xmlns:a16="http://schemas.microsoft.com/office/drawing/2014/main" id="{01CF1BBD-255B-A449-5BBE-333D8C64290E}"/>
              </a:ext>
            </a:extLst>
          </p:cNvPr>
          <p:cNvCxnSpPr>
            <a:cxnSpLocks/>
          </p:cNvCxnSpPr>
          <p:nvPr/>
        </p:nvCxnSpPr>
        <p:spPr>
          <a:xfrm>
            <a:off x="13423505" y="10524941"/>
            <a:ext cx="0" cy="348827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Arrow Connector 284">
            <a:extLst>
              <a:ext uri="{FF2B5EF4-FFF2-40B4-BE49-F238E27FC236}">
                <a16:creationId xmlns:a16="http://schemas.microsoft.com/office/drawing/2014/main" id="{9E8ADEF3-F9D2-ABC0-855A-7E24BDC662AC}"/>
              </a:ext>
            </a:extLst>
          </p:cNvPr>
          <p:cNvCxnSpPr>
            <a:cxnSpLocks/>
          </p:cNvCxnSpPr>
          <p:nvPr/>
        </p:nvCxnSpPr>
        <p:spPr>
          <a:xfrm>
            <a:off x="13709255" y="10378847"/>
            <a:ext cx="381250" cy="386324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Arrow Connector 285">
            <a:extLst>
              <a:ext uri="{FF2B5EF4-FFF2-40B4-BE49-F238E27FC236}">
                <a16:creationId xmlns:a16="http://schemas.microsoft.com/office/drawing/2014/main" id="{6CC553E7-72B1-F332-0232-DEBBBE09C6CF}"/>
              </a:ext>
            </a:extLst>
          </p:cNvPr>
          <p:cNvCxnSpPr>
            <a:cxnSpLocks/>
          </p:cNvCxnSpPr>
          <p:nvPr/>
        </p:nvCxnSpPr>
        <p:spPr>
          <a:xfrm>
            <a:off x="14200745" y="11026156"/>
            <a:ext cx="92265" cy="629041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Arrow Connector 286">
            <a:extLst>
              <a:ext uri="{FF2B5EF4-FFF2-40B4-BE49-F238E27FC236}">
                <a16:creationId xmlns:a16="http://schemas.microsoft.com/office/drawing/2014/main" id="{540C038F-2FBC-1EBB-3135-FAFB7C8DD349}"/>
              </a:ext>
            </a:extLst>
          </p:cNvPr>
          <p:cNvCxnSpPr>
            <a:cxnSpLocks/>
          </p:cNvCxnSpPr>
          <p:nvPr/>
        </p:nvCxnSpPr>
        <p:spPr>
          <a:xfrm>
            <a:off x="13473278" y="11026156"/>
            <a:ext cx="92265" cy="629041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Arrow Connector 287">
            <a:extLst>
              <a:ext uri="{FF2B5EF4-FFF2-40B4-BE49-F238E27FC236}">
                <a16:creationId xmlns:a16="http://schemas.microsoft.com/office/drawing/2014/main" id="{523E9D32-298E-3887-2519-35A4EDAC9D19}"/>
              </a:ext>
            </a:extLst>
          </p:cNvPr>
          <p:cNvCxnSpPr>
            <a:cxnSpLocks/>
          </p:cNvCxnSpPr>
          <p:nvPr/>
        </p:nvCxnSpPr>
        <p:spPr>
          <a:xfrm>
            <a:off x="12536157" y="11072343"/>
            <a:ext cx="92265" cy="629041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Arrow Connector 288">
            <a:extLst>
              <a:ext uri="{FF2B5EF4-FFF2-40B4-BE49-F238E27FC236}">
                <a16:creationId xmlns:a16="http://schemas.microsoft.com/office/drawing/2014/main" id="{0BE4CE22-7F14-9ADB-FCE5-3512258C5D7D}"/>
              </a:ext>
            </a:extLst>
          </p:cNvPr>
          <p:cNvCxnSpPr>
            <a:cxnSpLocks/>
          </p:cNvCxnSpPr>
          <p:nvPr/>
        </p:nvCxnSpPr>
        <p:spPr>
          <a:xfrm flipH="1">
            <a:off x="13956905" y="11041646"/>
            <a:ext cx="133600" cy="594501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Arrow Connector 289">
            <a:extLst>
              <a:ext uri="{FF2B5EF4-FFF2-40B4-BE49-F238E27FC236}">
                <a16:creationId xmlns:a16="http://schemas.microsoft.com/office/drawing/2014/main" id="{A15BB686-0156-4A30-75ED-B5C24E5AF089}"/>
              </a:ext>
            </a:extLst>
          </p:cNvPr>
          <p:cNvCxnSpPr>
            <a:cxnSpLocks/>
          </p:cNvCxnSpPr>
          <p:nvPr/>
        </p:nvCxnSpPr>
        <p:spPr>
          <a:xfrm flipH="1">
            <a:off x="13233979" y="11026156"/>
            <a:ext cx="66800" cy="324241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Arrow Connector 290">
            <a:extLst>
              <a:ext uri="{FF2B5EF4-FFF2-40B4-BE49-F238E27FC236}">
                <a16:creationId xmlns:a16="http://schemas.microsoft.com/office/drawing/2014/main" id="{0CB7854B-6480-D0B5-579E-D281952BE668}"/>
              </a:ext>
            </a:extLst>
          </p:cNvPr>
          <p:cNvCxnSpPr>
            <a:cxnSpLocks/>
          </p:cNvCxnSpPr>
          <p:nvPr/>
        </p:nvCxnSpPr>
        <p:spPr>
          <a:xfrm flipH="1">
            <a:off x="12267214" y="11037729"/>
            <a:ext cx="182740" cy="452906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2" name="Graphic 291" descr="Calculator with solid fill">
            <a:extLst>
              <a:ext uri="{FF2B5EF4-FFF2-40B4-BE49-F238E27FC236}">
                <a16:creationId xmlns:a16="http://schemas.microsoft.com/office/drawing/2014/main" id="{DB95956F-8875-03AF-ED32-0CB435D50DD5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5297214" y="10216777"/>
            <a:ext cx="914400" cy="914400"/>
          </a:xfrm>
          <a:prstGeom prst="rect">
            <a:avLst/>
          </a:prstGeom>
        </p:spPr>
      </p:pic>
      <p:sp>
        <p:nvSpPr>
          <p:cNvPr id="293" name="TextBox 292">
            <a:extLst>
              <a:ext uri="{FF2B5EF4-FFF2-40B4-BE49-F238E27FC236}">
                <a16:creationId xmlns:a16="http://schemas.microsoft.com/office/drawing/2014/main" id="{E63F54B0-C2EA-BA58-1609-02CF2F1D9F9C}"/>
              </a:ext>
            </a:extLst>
          </p:cNvPr>
          <p:cNvSpPr txBox="1"/>
          <p:nvPr/>
        </p:nvSpPr>
        <p:spPr>
          <a:xfrm>
            <a:off x="14677113" y="9424003"/>
            <a:ext cx="2085173" cy="93871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2750" b="1" dirty="0"/>
              <a:t>Parameter Calculation</a:t>
            </a:r>
          </a:p>
        </p:txBody>
      </p: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EE070719-E084-4C40-CD3A-F4D4DE1417C8}"/>
              </a:ext>
            </a:extLst>
          </p:cNvPr>
          <p:cNvCxnSpPr>
            <a:cxnSpLocks/>
          </p:cNvCxnSpPr>
          <p:nvPr/>
        </p:nvCxnSpPr>
        <p:spPr>
          <a:xfrm>
            <a:off x="16602754" y="9713190"/>
            <a:ext cx="2261763" cy="0"/>
          </a:xfrm>
          <a:prstGeom prst="line">
            <a:avLst/>
          </a:prstGeom>
          <a:ln w="2540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277F9FD5-3E89-4C24-7A25-005FB028B836}"/>
              </a:ext>
            </a:extLst>
          </p:cNvPr>
          <p:cNvCxnSpPr>
            <a:cxnSpLocks/>
          </p:cNvCxnSpPr>
          <p:nvPr/>
        </p:nvCxnSpPr>
        <p:spPr>
          <a:xfrm>
            <a:off x="16887872" y="9762318"/>
            <a:ext cx="0" cy="719764"/>
          </a:xfrm>
          <a:prstGeom prst="line">
            <a:avLst/>
          </a:prstGeom>
          <a:ln w="1905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1D945831-56F7-77DB-2774-31DF14A91DC8}"/>
              </a:ext>
            </a:extLst>
          </p:cNvPr>
          <p:cNvCxnSpPr>
            <a:cxnSpLocks/>
          </p:cNvCxnSpPr>
          <p:nvPr/>
        </p:nvCxnSpPr>
        <p:spPr>
          <a:xfrm>
            <a:off x="17931855" y="9743804"/>
            <a:ext cx="0" cy="738278"/>
          </a:xfrm>
          <a:prstGeom prst="line">
            <a:avLst/>
          </a:prstGeom>
          <a:ln w="1905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775341E9-A6B5-0AFC-A188-9FD9E60A4214}"/>
              </a:ext>
            </a:extLst>
          </p:cNvPr>
          <p:cNvCxnSpPr>
            <a:cxnSpLocks/>
          </p:cNvCxnSpPr>
          <p:nvPr/>
        </p:nvCxnSpPr>
        <p:spPr>
          <a:xfrm>
            <a:off x="18767389" y="9737294"/>
            <a:ext cx="0" cy="744788"/>
          </a:xfrm>
          <a:prstGeom prst="line">
            <a:avLst/>
          </a:prstGeom>
          <a:ln w="1905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8" name="Graphic 297">
            <a:extLst>
              <a:ext uri="{FF2B5EF4-FFF2-40B4-BE49-F238E27FC236}">
                <a16:creationId xmlns:a16="http://schemas.microsoft.com/office/drawing/2014/main" id="{DD3A1E57-E9C4-4BAB-36AB-6D1989D082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004245" y="9671793"/>
            <a:ext cx="726509" cy="908136"/>
          </a:xfrm>
          <a:prstGeom prst="rect">
            <a:avLst/>
          </a:prstGeom>
        </p:spPr>
      </p:pic>
      <p:pic>
        <p:nvPicPr>
          <p:cNvPr id="299" name="Graphic 298">
            <a:extLst>
              <a:ext uri="{FF2B5EF4-FFF2-40B4-BE49-F238E27FC236}">
                <a16:creationId xmlns:a16="http://schemas.microsoft.com/office/drawing/2014/main" id="{D15F92EE-5B7A-B1E3-E0B1-28CFC670BF94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8227416" y="9862878"/>
            <a:ext cx="245546" cy="625026"/>
          </a:xfrm>
          <a:prstGeom prst="rect">
            <a:avLst/>
          </a:prstGeom>
        </p:spPr>
      </p:pic>
      <p:pic>
        <p:nvPicPr>
          <p:cNvPr id="300" name="Graphic 299">
            <a:extLst>
              <a:ext uri="{FF2B5EF4-FFF2-40B4-BE49-F238E27FC236}">
                <a16:creationId xmlns:a16="http://schemas.microsoft.com/office/drawing/2014/main" id="{61C560B9-E3D2-8BF4-7580-9FBD62E188E7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7125114" y="9954771"/>
            <a:ext cx="575626" cy="335782"/>
          </a:xfrm>
          <a:prstGeom prst="rect">
            <a:avLst/>
          </a:prstGeom>
        </p:spPr>
      </p:pic>
      <p:sp>
        <p:nvSpPr>
          <p:cNvPr id="301" name="TextBox 300">
            <a:extLst>
              <a:ext uri="{FF2B5EF4-FFF2-40B4-BE49-F238E27FC236}">
                <a16:creationId xmlns:a16="http://schemas.microsoft.com/office/drawing/2014/main" id="{9CC62470-A1E6-AF47-3BDC-94C022A21783}"/>
              </a:ext>
            </a:extLst>
          </p:cNvPr>
          <p:cNvSpPr txBox="1"/>
          <p:nvPr/>
        </p:nvSpPr>
        <p:spPr>
          <a:xfrm>
            <a:off x="16818398" y="10361043"/>
            <a:ext cx="2085173" cy="93871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2750" b="1" dirty="0"/>
              <a:t>Tree Search</a:t>
            </a:r>
          </a:p>
          <a:p>
            <a:pPr algn="ctr"/>
            <a:r>
              <a:rPr lang="en-AU" sz="2750" b="1" dirty="0"/>
              <a:t>Heuristic</a:t>
            </a:r>
          </a:p>
        </p:txBody>
      </p:sp>
      <p:cxnSp>
        <p:nvCxnSpPr>
          <p:cNvPr id="302" name="Connector: Elbow 301">
            <a:extLst>
              <a:ext uri="{FF2B5EF4-FFF2-40B4-BE49-F238E27FC236}">
                <a16:creationId xmlns:a16="http://schemas.microsoft.com/office/drawing/2014/main" id="{569DF263-A1FA-7C40-2B2C-F2BBE7AB7F58}"/>
              </a:ext>
            </a:extLst>
          </p:cNvPr>
          <p:cNvCxnSpPr>
            <a:cxnSpLocks/>
          </p:cNvCxnSpPr>
          <p:nvPr/>
        </p:nvCxnSpPr>
        <p:spPr>
          <a:xfrm flipV="1">
            <a:off x="19290488" y="11026156"/>
            <a:ext cx="1108285" cy="801649"/>
          </a:xfrm>
          <a:prstGeom prst="bentConnector3">
            <a:avLst>
              <a:gd name="adj1" fmla="val 19879"/>
            </a:avLst>
          </a:prstGeom>
          <a:ln w="247650">
            <a:solidFill>
              <a:schemeClr val="tx1"/>
            </a:solidFill>
            <a:headEnd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3" name="Arrow: Right 302">
            <a:extLst>
              <a:ext uri="{FF2B5EF4-FFF2-40B4-BE49-F238E27FC236}">
                <a16:creationId xmlns:a16="http://schemas.microsoft.com/office/drawing/2014/main" id="{94E8B2D0-4A16-446F-EF75-1692191225B2}"/>
              </a:ext>
            </a:extLst>
          </p:cNvPr>
          <p:cNvSpPr/>
          <p:nvPr/>
        </p:nvSpPr>
        <p:spPr>
          <a:xfrm rot="5400000">
            <a:off x="17647309" y="11197169"/>
            <a:ext cx="446084" cy="50121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304" name="Graphic 303">
            <a:extLst>
              <a:ext uri="{FF2B5EF4-FFF2-40B4-BE49-F238E27FC236}">
                <a16:creationId xmlns:a16="http://schemas.microsoft.com/office/drawing/2014/main" id="{C8615E54-EB0B-D9BC-8CAE-7D8F29800C7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9893264" y="10439875"/>
            <a:ext cx="1426285" cy="1426285"/>
          </a:xfrm>
          <a:prstGeom prst="rect">
            <a:avLst/>
          </a:prstGeom>
        </p:spPr>
      </p:pic>
      <p:cxnSp>
        <p:nvCxnSpPr>
          <p:cNvPr id="305" name="Connector: Elbow 304">
            <a:extLst>
              <a:ext uri="{FF2B5EF4-FFF2-40B4-BE49-F238E27FC236}">
                <a16:creationId xmlns:a16="http://schemas.microsoft.com/office/drawing/2014/main" id="{CA129924-7EA1-50CB-CABE-B66402A5C538}"/>
              </a:ext>
            </a:extLst>
          </p:cNvPr>
          <p:cNvCxnSpPr>
            <a:cxnSpLocks/>
          </p:cNvCxnSpPr>
          <p:nvPr/>
        </p:nvCxnSpPr>
        <p:spPr>
          <a:xfrm>
            <a:off x="14461276" y="10873256"/>
            <a:ext cx="4905829" cy="957020"/>
          </a:xfrm>
          <a:prstGeom prst="bentConnector3">
            <a:avLst>
              <a:gd name="adj1" fmla="val 9763"/>
            </a:avLst>
          </a:prstGeom>
          <a:ln w="254000">
            <a:solidFill>
              <a:schemeClr val="tx1"/>
            </a:solidFill>
            <a:headEnd w="sm" len="sm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305">
            <a:extLst>
              <a:ext uri="{FF2B5EF4-FFF2-40B4-BE49-F238E27FC236}">
                <a16:creationId xmlns:a16="http://schemas.microsoft.com/office/drawing/2014/main" id="{19DA8E44-210D-2422-239E-053CE8C9C193}"/>
              </a:ext>
            </a:extLst>
          </p:cNvPr>
          <p:cNvCxnSpPr>
            <a:cxnSpLocks/>
          </p:cNvCxnSpPr>
          <p:nvPr/>
        </p:nvCxnSpPr>
        <p:spPr>
          <a:xfrm flipV="1">
            <a:off x="9698738" y="9723527"/>
            <a:ext cx="798687" cy="860496"/>
          </a:xfrm>
          <a:prstGeom prst="line">
            <a:avLst/>
          </a:prstGeom>
          <a:ln w="2540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7" name="Graphic 306" descr="Dice with solid fill">
            <a:extLst>
              <a:ext uri="{FF2B5EF4-FFF2-40B4-BE49-F238E27FC236}">
                <a16:creationId xmlns:a16="http://schemas.microsoft.com/office/drawing/2014/main" id="{5C20EFB8-4A53-2B08-B7FB-A3FFB31C0D2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543849" y="7514854"/>
            <a:ext cx="1906572" cy="1906572"/>
          </a:xfrm>
          <a:prstGeom prst="rect">
            <a:avLst/>
          </a:prstGeom>
        </p:spPr>
      </p:pic>
      <p:sp>
        <p:nvSpPr>
          <p:cNvPr id="308" name="TextBox 307">
            <a:extLst>
              <a:ext uri="{FF2B5EF4-FFF2-40B4-BE49-F238E27FC236}">
                <a16:creationId xmlns:a16="http://schemas.microsoft.com/office/drawing/2014/main" id="{7CE9ABCB-6340-2B22-3381-9E75579A2B0D}"/>
              </a:ext>
            </a:extLst>
          </p:cNvPr>
          <p:cNvSpPr txBox="1"/>
          <p:nvPr/>
        </p:nvSpPr>
        <p:spPr>
          <a:xfrm>
            <a:off x="934206" y="6700188"/>
            <a:ext cx="3160984" cy="93871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2750" b="1" dirty="0"/>
              <a:t>Random selection is arbitrary</a:t>
            </a:r>
          </a:p>
        </p:txBody>
      </p:sp>
      <p:sp>
        <p:nvSpPr>
          <p:cNvPr id="309" name="Arrow: Right 308">
            <a:extLst>
              <a:ext uri="{FF2B5EF4-FFF2-40B4-BE49-F238E27FC236}">
                <a16:creationId xmlns:a16="http://schemas.microsoft.com/office/drawing/2014/main" id="{5D41FB2C-9466-1BB8-E055-264F628BC376}"/>
              </a:ext>
            </a:extLst>
          </p:cNvPr>
          <p:cNvSpPr/>
          <p:nvPr/>
        </p:nvSpPr>
        <p:spPr>
          <a:xfrm>
            <a:off x="3664093" y="7608287"/>
            <a:ext cx="2080847" cy="96985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79A52672-1536-966A-3F45-748D673546B5}"/>
              </a:ext>
            </a:extLst>
          </p:cNvPr>
          <p:cNvSpPr txBox="1"/>
          <p:nvPr/>
        </p:nvSpPr>
        <p:spPr>
          <a:xfrm>
            <a:off x="4821676" y="6674188"/>
            <a:ext cx="4575934" cy="93871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2750" b="1" dirty="0"/>
              <a:t>Instead, viable musical continuations are searched</a:t>
            </a:r>
          </a:p>
        </p:txBody>
      </p:sp>
      <p:pic>
        <p:nvPicPr>
          <p:cNvPr id="311" name="Graphic 310">
            <a:extLst>
              <a:ext uri="{FF2B5EF4-FFF2-40B4-BE49-F238E27FC236}">
                <a16:creationId xmlns:a16="http://schemas.microsoft.com/office/drawing/2014/main" id="{27556066-83EC-22A4-D049-5923EBB1DB9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097311" y="7693201"/>
            <a:ext cx="215613" cy="603714"/>
          </a:xfrm>
          <a:prstGeom prst="rect">
            <a:avLst/>
          </a:prstGeom>
        </p:spPr>
      </p:pic>
      <p:sp>
        <p:nvSpPr>
          <p:cNvPr id="312" name="Arrow: Right 311">
            <a:extLst>
              <a:ext uri="{FF2B5EF4-FFF2-40B4-BE49-F238E27FC236}">
                <a16:creationId xmlns:a16="http://schemas.microsoft.com/office/drawing/2014/main" id="{295F7680-C596-69B4-E28F-E51FA3E815B8}"/>
              </a:ext>
            </a:extLst>
          </p:cNvPr>
          <p:cNvSpPr/>
          <p:nvPr/>
        </p:nvSpPr>
        <p:spPr>
          <a:xfrm>
            <a:off x="6381478" y="7694446"/>
            <a:ext cx="354826" cy="44859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313" name="Graphic 312">
            <a:extLst>
              <a:ext uri="{FF2B5EF4-FFF2-40B4-BE49-F238E27FC236}">
                <a16:creationId xmlns:a16="http://schemas.microsoft.com/office/drawing/2014/main" id="{0ADD06E2-A75D-4033-C874-40016FC88BA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656881" y="7524541"/>
            <a:ext cx="671120" cy="671120"/>
          </a:xfrm>
          <a:prstGeom prst="rect">
            <a:avLst/>
          </a:prstGeom>
        </p:spPr>
      </p:pic>
      <p:sp>
        <p:nvSpPr>
          <p:cNvPr id="314" name="Arrow: Right 313">
            <a:extLst>
              <a:ext uri="{FF2B5EF4-FFF2-40B4-BE49-F238E27FC236}">
                <a16:creationId xmlns:a16="http://schemas.microsoft.com/office/drawing/2014/main" id="{368B5B06-702A-D054-4CED-F8670A0C36D3}"/>
              </a:ext>
            </a:extLst>
          </p:cNvPr>
          <p:cNvSpPr/>
          <p:nvPr/>
        </p:nvSpPr>
        <p:spPr>
          <a:xfrm>
            <a:off x="7229663" y="7675418"/>
            <a:ext cx="354826" cy="44859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315" name="Graphic 314">
            <a:extLst>
              <a:ext uri="{FF2B5EF4-FFF2-40B4-BE49-F238E27FC236}">
                <a16:creationId xmlns:a16="http://schemas.microsoft.com/office/drawing/2014/main" id="{F72E04A9-4D07-9DF9-F590-5894894393E7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7639030" y="7535191"/>
            <a:ext cx="372863" cy="665828"/>
          </a:xfrm>
          <a:prstGeom prst="rect">
            <a:avLst/>
          </a:prstGeom>
        </p:spPr>
      </p:pic>
      <p:sp>
        <p:nvSpPr>
          <p:cNvPr id="316" name="Arrow: Right 315">
            <a:extLst>
              <a:ext uri="{FF2B5EF4-FFF2-40B4-BE49-F238E27FC236}">
                <a16:creationId xmlns:a16="http://schemas.microsoft.com/office/drawing/2014/main" id="{2AD59590-A48C-1687-9853-319CF9F25FAE}"/>
              </a:ext>
            </a:extLst>
          </p:cNvPr>
          <p:cNvSpPr/>
          <p:nvPr/>
        </p:nvSpPr>
        <p:spPr>
          <a:xfrm>
            <a:off x="6381478" y="8580002"/>
            <a:ext cx="354826" cy="44859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17" name="Arrow: Right 316">
            <a:extLst>
              <a:ext uri="{FF2B5EF4-FFF2-40B4-BE49-F238E27FC236}">
                <a16:creationId xmlns:a16="http://schemas.microsoft.com/office/drawing/2014/main" id="{A9819612-B2F4-A300-DF31-FA910539C1FC}"/>
              </a:ext>
            </a:extLst>
          </p:cNvPr>
          <p:cNvSpPr/>
          <p:nvPr/>
        </p:nvSpPr>
        <p:spPr>
          <a:xfrm>
            <a:off x="7229663" y="8562571"/>
            <a:ext cx="354826" cy="44859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318" name="Graphic 317">
            <a:extLst>
              <a:ext uri="{FF2B5EF4-FFF2-40B4-BE49-F238E27FC236}">
                <a16:creationId xmlns:a16="http://schemas.microsoft.com/office/drawing/2014/main" id="{36D6714A-8457-67E6-37D0-7A28003B70A8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810573" y="8389093"/>
            <a:ext cx="237608" cy="712825"/>
          </a:xfrm>
          <a:prstGeom prst="rect">
            <a:avLst/>
          </a:prstGeom>
        </p:spPr>
      </p:pic>
      <p:pic>
        <p:nvPicPr>
          <p:cNvPr id="319" name="Graphic 318">
            <a:extLst>
              <a:ext uri="{FF2B5EF4-FFF2-40B4-BE49-F238E27FC236}">
                <a16:creationId xmlns:a16="http://schemas.microsoft.com/office/drawing/2014/main" id="{A40F71BD-DEE1-EFF5-2251-F54072B2412F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639763" y="8366999"/>
            <a:ext cx="361869" cy="678504"/>
          </a:xfrm>
          <a:prstGeom prst="rect">
            <a:avLst/>
          </a:prstGeom>
        </p:spPr>
      </p:pic>
      <p:cxnSp>
        <p:nvCxnSpPr>
          <p:cNvPr id="320" name="Straight Arrow Connector 319">
            <a:extLst>
              <a:ext uri="{FF2B5EF4-FFF2-40B4-BE49-F238E27FC236}">
                <a16:creationId xmlns:a16="http://schemas.microsoft.com/office/drawing/2014/main" id="{F7F19407-B277-5CF3-3D94-533F7CCF7CC8}"/>
              </a:ext>
            </a:extLst>
          </p:cNvPr>
          <p:cNvCxnSpPr>
            <a:cxnSpLocks/>
          </p:cNvCxnSpPr>
          <p:nvPr/>
        </p:nvCxnSpPr>
        <p:spPr>
          <a:xfrm>
            <a:off x="8421982" y="7834133"/>
            <a:ext cx="2700853" cy="0"/>
          </a:xfrm>
          <a:prstGeom prst="straightConnector1">
            <a:avLst/>
          </a:prstGeom>
          <a:ln w="2540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Arrow Connector 320">
            <a:extLst>
              <a:ext uri="{FF2B5EF4-FFF2-40B4-BE49-F238E27FC236}">
                <a16:creationId xmlns:a16="http://schemas.microsoft.com/office/drawing/2014/main" id="{68269261-704F-E9DF-D208-7D10B0BC6BD5}"/>
              </a:ext>
            </a:extLst>
          </p:cNvPr>
          <p:cNvCxnSpPr>
            <a:cxnSpLocks/>
          </p:cNvCxnSpPr>
          <p:nvPr/>
        </p:nvCxnSpPr>
        <p:spPr>
          <a:xfrm>
            <a:off x="8421982" y="8734625"/>
            <a:ext cx="2700853" cy="0"/>
          </a:xfrm>
          <a:prstGeom prst="straightConnector1">
            <a:avLst/>
          </a:prstGeom>
          <a:ln w="2540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2" name="Graphic 321">
            <a:extLst>
              <a:ext uri="{FF2B5EF4-FFF2-40B4-BE49-F238E27FC236}">
                <a16:creationId xmlns:a16="http://schemas.microsoft.com/office/drawing/2014/main" id="{1D5E811A-3DC4-2170-3C3C-133A7028452D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1223741" y="7584336"/>
            <a:ext cx="255560" cy="650517"/>
          </a:xfrm>
          <a:prstGeom prst="rect">
            <a:avLst/>
          </a:prstGeom>
        </p:spPr>
      </p:pic>
      <p:sp>
        <p:nvSpPr>
          <p:cNvPr id="323" name="TextBox 322">
            <a:extLst>
              <a:ext uri="{FF2B5EF4-FFF2-40B4-BE49-F238E27FC236}">
                <a16:creationId xmlns:a16="http://schemas.microsoft.com/office/drawing/2014/main" id="{27EDA1D9-07C7-69D9-53D3-C13484CF81C3}"/>
              </a:ext>
            </a:extLst>
          </p:cNvPr>
          <p:cNvSpPr txBox="1"/>
          <p:nvPr/>
        </p:nvSpPr>
        <p:spPr>
          <a:xfrm>
            <a:off x="9813396" y="6722489"/>
            <a:ext cx="4953428" cy="93871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2750" b="1" dirty="0"/>
              <a:t>Adherence to the established musical structure is checked</a:t>
            </a:r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005F9808-5078-75C3-B26C-B23B1F25EAD0}"/>
              </a:ext>
            </a:extLst>
          </p:cNvPr>
          <p:cNvSpPr txBox="1"/>
          <p:nvPr/>
        </p:nvSpPr>
        <p:spPr>
          <a:xfrm>
            <a:off x="11443978" y="7490903"/>
            <a:ext cx="654751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4800" b="1" dirty="0"/>
              <a:t>?</a:t>
            </a:r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407CE4D0-FBE9-0228-6CAB-D1D879596B4E}"/>
              </a:ext>
            </a:extLst>
          </p:cNvPr>
          <p:cNvSpPr txBox="1"/>
          <p:nvPr/>
        </p:nvSpPr>
        <p:spPr>
          <a:xfrm>
            <a:off x="12733629" y="7499407"/>
            <a:ext cx="654751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4800" b="1" dirty="0"/>
              <a:t>?</a:t>
            </a:r>
          </a:p>
        </p:txBody>
      </p:sp>
      <p:pic>
        <p:nvPicPr>
          <p:cNvPr id="326" name="Graphic 325">
            <a:extLst>
              <a:ext uri="{FF2B5EF4-FFF2-40B4-BE49-F238E27FC236}">
                <a16:creationId xmlns:a16="http://schemas.microsoft.com/office/drawing/2014/main" id="{29C1E6D5-8D1D-7827-1B8F-E7527753DB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34959" y="8240772"/>
            <a:ext cx="788740" cy="985925"/>
          </a:xfrm>
          <a:prstGeom prst="rect">
            <a:avLst/>
          </a:prstGeom>
        </p:spPr>
      </p:pic>
      <p:pic>
        <p:nvPicPr>
          <p:cNvPr id="327" name="Graphic 326">
            <a:extLst>
              <a:ext uri="{FF2B5EF4-FFF2-40B4-BE49-F238E27FC236}">
                <a16:creationId xmlns:a16="http://schemas.microsoft.com/office/drawing/2014/main" id="{F9A6B108-F55E-1D8A-6967-A8CAEB1C13FC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1225244" y="8439065"/>
            <a:ext cx="255560" cy="650517"/>
          </a:xfrm>
          <a:prstGeom prst="rect">
            <a:avLst/>
          </a:prstGeom>
        </p:spPr>
      </p:pic>
      <p:sp>
        <p:nvSpPr>
          <p:cNvPr id="328" name="TextBox 327">
            <a:extLst>
              <a:ext uri="{FF2B5EF4-FFF2-40B4-BE49-F238E27FC236}">
                <a16:creationId xmlns:a16="http://schemas.microsoft.com/office/drawing/2014/main" id="{E19DA775-8FD1-DCD8-3696-6215B64C865C}"/>
              </a:ext>
            </a:extLst>
          </p:cNvPr>
          <p:cNvSpPr txBox="1"/>
          <p:nvPr/>
        </p:nvSpPr>
        <p:spPr>
          <a:xfrm>
            <a:off x="11445481" y="8345632"/>
            <a:ext cx="654751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4800" b="1" dirty="0"/>
              <a:t>?</a:t>
            </a:r>
          </a:p>
        </p:txBody>
      </p:sp>
      <p:sp>
        <p:nvSpPr>
          <p:cNvPr id="329" name="TextBox 328">
            <a:extLst>
              <a:ext uri="{FF2B5EF4-FFF2-40B4-BE49-F238E27FC236}">
                <a16:creationId xmlns:a16="http://schemas.microsoft.com/office/drawing/2014/main" id="{C28FC5A4-7F8C-5525-F008-0572EC7FEB02}"/>
              </a:ext>
            </a:extLst>
          </p:cNvPr>
          <p:cNvSpPr txBox="1"/>
          <p:nvPr/>
        </p:nvSpPr>
        <p:spPr>
          <a:xfrm>
            <a:off x="12735132" y="8354136"/>
            <a:ext cx="654751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4800" b="1" dirty="0"/>
              <a:t>?</a:t>
            </a:r>
          </a:p>
        </p:txBody>
      </p:sp>
      <p:pic>
        <p:nvPicPr>
          <p:cNvPr id="330" name="Graphic 329">
            <a:extLst>
              <a:ext uri="{FF2B5EF4-FFF2-40B4-BE49-F238E27FC236}">
                <a16:creationId xmlns:a16="http://schemas.microsoft.com/office/drawing/2014/main" id="{6B8525BC-958B-FDBB-5D83-C613DC93BFC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813444" y="8443454"/>
            <a:ext cx="647396" cy="647396"/>
          </a:xfrm>
          <a:prstGeom prst="rect">
            <a:avLst/>
          </a:prstGeom>
        </p:spPr>
      </p:pic>
      <p:pic>
        <p:nvPicPr>
          <p:cNvPr id="331" name="Graphic 330">
            <a:extLst>
              <a:ext uri="{FF2B5EF4-FFF2-40B4-BE49-F238E27FC236}">
                <a16:creationId xmlns:a16="http://schemas.microsoft.com/office/drawing/2014/main" id="{003E0484-20BF-5DCD-DD27-CC5DD5963F8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7368028" y="7789474"/>
            <a:ext cx="1426285" cy="1426285"/>
          </a:xfrm>
          <a:prstGeom prst="rect">
            <a:avLst/>
          </a:prstGeom>
        </p:spPr>
      </p:pic>
      <p:sp>
        <p:nvSpPr>
          <p:cNvPr id="332" name="TextBox 331">
            <a:extLst>
              <a:ext uri="{FF2B5EF4-FFF2-40B4-BE49-F238E27FC236}">
                <a16:creationId xmlns:a16="http://schemas.microsoft.com/office/drawing/2014/main" id="{0A5B4715-6E86-A631-7D14-54B42991425B}"/>
              </a:ext>
            </a:extLst>
          </p:cNvPr>
          <p:cNvSpPr txBox="1"/>
          <p:nvPr/>
        </p:nvSpPr>
        <p:spPr>
          <a:xfrm>
            <a:off x="14969167" y="6699298"/>
            <a:ext cx="6243922" cy="93871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2750" b="1" dirty="0"/>
              <a:t>And predictions are guided toward options which maintain this structure</a:t>
            </a:r>
          </a:p>
        </p:txBody>
      </p:sp>
      <p:cxnSp>
        <p:nvCxnSpPr>
          <p:cNvPr id="333" name="Connector: Curved 332">
            <a:extLst>
              <a:ext uri="{FF2B5EF4-FFF2-40B4-BE49-F238E27FC236}">
                <a16:creationId xmlns:a16="http://schemas.microsoft.com/office/drawing/2014/main" id="{BB85F244-81FC-1636-6DF6-AD556334B39E}"/>
              </a:ext>
            </a:extLst>
          </p:cNvPr>
          <p:cNvCxnSpPr>
            <a:cxnSpLocks/>
          </p:cNvCxnSpPr>
          <p:nvPr/>
        </p:nvCxnSpPr>
        <p:spPr>
          <a:xfrm flipV="1">
            <a:off x="14137949" y="8287793"/>
            <a:ext cx="3326408" cy="451172"/>
          </a:xfrm>
          <a:prstGeom prst="curvedConnector3">
            <a:avLst/>
          </a:prstGeom>
          <a:ln w="2540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7290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</TotalTime>
  <Words>115</Words>
  <Application>Microsoft Office PowerPoint</Application>
  <PresentationFormat>Custom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Scott Howsam</dc:creator>
  <cp:lastModifiedBy>Scott Howsam</cp:lastModifiedBy>
  <cp:revision>2</cp:revision>
  <dcterms:created xsi:type="dcterms:W3CDTF">2025-05-22T03:09:44Z</dcterms:created>
  <dcterms:modified xsi:type="dcterms:W3CDTF">2025-05-22T03:25:26Z</dcterms:modified>
</cp:coreProperties>
</file>