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D973"/>
    <a:srgbClr val="275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604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1532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648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96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79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4630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6384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2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822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40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738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294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F4F1A-CEEF-46D6-B24F-1EEF5C44F187}" type="datetimeFigureOut">
              <a:rPr lang="en-AU" smtClean="0"/>
              <a:t>22/05/2025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899F4-8360-402C-A8A7-90902EFF17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127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DEE82FA-7946-9202-9248-1CE525DEDBC0}"/>
              </a:ext>
            </a:extLst>
          </p:cNvPr>
          <p:cNvSpPr/>
          <p:nvPr/>
        </p:nvSpPr>
        <p:spPr>
          <a:xfrm>
            <a:off x="2138362" y="552450"/>
            <a:ext cx="633413" cy="633413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AFD33-D28D-73AD-2149-5F147024E7E5}"/>
              </a:ext>
            </a:extLst>
          </p:cNvPr>
          <p:cNvSpPr txBox="1"/>
          <p:nvPr/>
        </p:nvSpPr>
        <p:spPr>
          <a:xfrm>
            <a:off x="3962125" y="515212"/>
            <a:ext cx="2670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Previous Note Played</a:t>
            </a:r>
            <a:b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(root of search tree)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EA90527-84F8-145D-C9FF-322ADE801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9448" y="761652"/>
            <a:ext cx="471242" cy="21500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36AE64-0EA7-62D4-2AAA-4B82CB350C9E}"/>
              </a:ext>
            </a:extLst>
          </p:cNvPr>
          <p:cNvSpPr/>
          <p:nvPr/>
        </p:nvSpPr>
        <p:spPr>
          <a:xfrm>
            <a:off x="2138362" y="1704975"/>
            <a:ext cx="633413" cy="633413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4FA7DB-2002-299F-A52A-39B9D753A507}"/>
              </a:ext>
            </a:extLst>
          </p:cNvPr>
          <p:cNvSpPr/>
          <p:nvPr/>
        </p:nvSpPr>
        <p:spPr>
          <a:xfrm>
            <a:off x="814387" y="1704975"/>
            <a:ext cx="633413" cy="63341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5B5CD2-F21C-ABDB-9F0D-96072CF21F62}"/>
              </a:ext>
            </a:extLst>
          </p:cNvPr>
          <p:cNvSpPr/>
          <p:nvPr/>
        </p:nvSpPr>
        <p:spPr>
          <a:xfrm>
            <a:off x="3390902" y="1719263"/>
            <a:ext cx="633413" cy="63341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AC148C-1ADB-C6D8-AADD-ECED1169C820}"/>
              </a:ext>
            </a:extLst>
          </p:cNvPr>
          <p:cNvCxnSpPr>
            <a:cxnSpLocks/>
            <a:stCxn id="4" idx="3"/>
            <a:endCxn id="9" idx="7"/>
          </p:cNvCxnSpPr>
          <p:nvPr/>
        </p:nvCxnSpPr>
        <p:spPr>
          <a:xfrm flipH="1">
            <a:off x="1355039" y="1093102"/>
            <a:ext cx="876084" cy="704634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FC9BED9B-16B4-A4A5-68E9-0EAE0F7F2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0552" y="1745587"/>
            <a:ext cx="534025" cy="53402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CC2185CB-7557-88C2-757F-E4554EB383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91" y="1738313"/>
            <a:ext cx="186783" cy="560349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10A498-D4FC-B38F-31E6-A5389BC2EA54}"/>
              </a:ext>
            </a:extLst>
          </p:cNvPr>
          <p:cNvCxnSpPr>
            <a:cxnSpLocks/>
          </p:cNvCxnSpPr>
          <p:nvPr/>
        </p:nvCxnSpPr>
        <p:spPr>
          <a:xfrm flipH="1">
            <a:off x="2843352" y="869155"/>
            <a:ext cx="1095100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79719A-122B-5B05-2688-661B0E07DACE}"/>
              </a:ext>
            </a:extLst>
          </p:cNvPr>
          <p:cNvCxnSpPr>
            <a:cxnSpLocks/>
          </p:cNvCxnSpPr>
          <p:nvPr/>
        </p:nvCxnSpPr>
        <p:spPr>
          <a:xfrm flipH="1">
            <a:off x="4097306" y="2012599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BB5F43E-C9E7-385F-5A0D-BB86810BE756}"/>
              </a:ext>
            </a:extLst>
          </p:cNvPr>
          <p:cNvSpPr txBox="1"/>
          <p:nvPr/>
        </p:nvSpPr>
        <p:spPr>
          <a:xfrm>
            <a:off x="4533900" y="1821626"/>
            <a:ext cx="1819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UCT Selection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69B9EE-1C52-9537-02DF-5BF98B43117D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2455069" y="1185863"/>
            <a:ext cx="0" cy="519112"/>
          </a:xfrm>
          <a:prstGeom prst="straightConnector1">
            <a:avLst/>
          </a:prstGeom>
          <a:ln w="635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0BC839-7838-C0C3-38D2-BE7DDC7C8556}"/>
              </a:ext>
            </a:extLst>
          </p:cNvPr>
          <p:cNvCxnSpPr>
            <a:cxnSpLocks/>
            <a:stCxn id="4" idx="5"/>
            <a:endCxn id="10" idx="1"/>
          </p:cNvCxnSpPr>
          <p:nvPr/>
        </p:nvCxnSpPr>
        <p:spPr>
          <a:xfrm>
            <a:off x="2679014" y="1093102"/>
            <a:ext cx="804649" cy="71892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D3A042E-2C2C-8957-1E98-445A6742C201}"/>
              </a:ext>
            </a:extLst>
          </p:cNvPr>
          <p:cNvSpPr txBox="1"/>
          <p:nvPr/>
        </p:nvSpPr>
        <p:spPr>
          <a:xfrm>
            <a:off x="2936974" y="1805135"/>
            <a:ext cx="521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UCT: 0.4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594854-FE71-4ADD-8477-3011114EFD40}"/>
              </a:ext>
            </a:extLst>
          </p:cNvPr>
          <p:cNvSpPr txBox="1"/>
          <p:nvPr/>
        </p:nvSpPr>
        <p:spPr>
          <a:xfrm>
            <a:off x="1685256" y="1819137"/>
            <a:ext cx="521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UCT: 1.1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442137-C2C6-121B-6D45-E7C6CFA3962F}"/>
              </a:ext>
            </a:extLst>
          </p:cNvPr>
          <p:cNvSpPr txBox="1"/>
          <p:nvPr/>
        </p:nvSpPr>
        <p:spPr>
          <a:xfrm>
            <a:off x="360924" y="1817947"/>
            <a:ext cx="521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UCT: 0.6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6400FF-8BEC-C3AC-4BEF-E80C4322319B}"/>
              </a:ext>
            </a:extLst>
          </p:cNvPr>
          <p:cNvCxnSpPr>
            <a:cxnSpLocks/>
          </p:cNvCxnSpPr>
          <p:nvPr/>
        </p:nvCxnSpPr>
        <p:spPr>
          <a:xfrm flipH="1">
            <a:off x="4097306" y="3177062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726BAA7-766E-A5FD-975A-CC1DD8186811}"/>
              </a:ext>
            </a:extLst>
          </p:cNvPr>
          <p:cNvCxnSpPr>
            <a:cxnSpLocks/>
          </p:cNvCxnSpPr>
          <p:nvPr/>
        </p:nvCxnSpPr>
        <p:spPr>
          <a:xfrm flipV="1">
            <a:off x="1157269" y="2863039"/>
            <a:ext cx="321140" cy="603324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867797E-D31F-CFC0-B69F-78D08D07B5C9}"/>
              </a:ext>
            </a:extLst>
          </p:cNvPr>
          <p:cNvSpPr/>
          <p:nvPr/>
        </p:nvSpPr>
        <p:spPr>
          <a:xfrm>
            <a:off x="1506961" y="2714867"/>
            <a:ext cx="796345" cy="93994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MDN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36B892-C6C4-0FB0-E08E-D4C4C6E98F89}"/>
              </a:ext>
            </a:extLst>
          </p:cNvPr>
          <p:cNvSpPr/>
          <p:nvPr/>
        </p:nvSpPr>
        <p:spPr>
          <a:xfrm>
            <a:off x="360924" y="2714867"/>
            <a:ext cx="796345" cy="93993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LSTM</a:t>
            </a:r>
          </a:p>
          <a:p>
            <a:pPr algn="ctr"/>
            <a:r>
              <a:rPr lang="en-AU" dirty="0"/>
              <a:t>RNN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8F7D7CD-8173-3C01-F2F6-230622A5BF13}"/>
              </a:ext>
            </a:extLst>
          </p:cNvPr>
          <p:cNvCxnSpPr>
            <a:cxnSpLocks/>
          </p:cNvCxnSpPr>
          <p:nvPr/>
        </p:nvCxnSpPr>
        <p:spPr>
          <a:xfrm>
            <a:off x="1157269" y="2863039"/>
            <a:ext cx="321140" cy="603324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BAA85C8-0365-23D0-82A1-E94D4F0EB3F9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1157269" y="3184837"/>
            <a:ext cx="349692" cy="0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00C3EA-B864-0D31-3EED-B07503E30060}"/>
              </a:ext>
            </a:extLst>
          </p:cNvPr>
          <p:cNvCxnSpPr>
            <a:cxnSpLocks/>
          </p:cNvCxnSpPr>
          <p:nvPr/>
        </p:nvCxnSpPr>
        <p:spPr>
          <a:xfrm>
            <a:off x="1157269" y="2863039"/>
            <a:ext cx="321140" cy="0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5E2CA0A-97C1-C325-B02C-3109101C00EF}"/>
              </a:ext>
            </a:extLst>
          </p:cNvPr>
          <p:cNvCxnSpPr>
            <a:cxnSpLocks/>
          </p:cNvCxnSpPr>
          <p:nvPr/>
        </p:nvCxnSpPr>
        <p:spPr>
          <a:xfrm>
            <a:off x="1157269" y="3466362"/>
            <a:ext cx="321140" cy="0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1419A7C-CE34-90C9-FE86-5D532AC1B612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57269" y="3184837"/>
            <a:ext cx="321140" cy="281526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F6888F8-FC89-0375-C035-F0678E2CD63C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1157269" y="2863039"/>
            <a:ext cx="321140" cy="321798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AA6C7A0-AF6A-778D-D2A2-E1D9967F4BBB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1185820" y="2863038"/>
            <a:ext cx="321140" cy="321798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1AB947-F67B-47B7-158A-5D635B82C08D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1185820" y="3184836"/>
            <a:ext cx="321140" cy="281525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Graphic 52">
            <a:extLst>
              <a:ext uri="{FF2B5EF4-FFF2-40B4-BE49-F238E27FC236}">
                <a16:creationId xmlns:a16="http://schemas.microsoft.com/office/drawing/2014/main" id="{5D3A16FE-A17F-2C39-396E-016B5B002F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34577" y="2928335"/>
            <a:ext cx="1447955" cy="758553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768542B7-063E-ADEC-DA63-8F4F566822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70054" y="2835235"/>
            <a:ext cx="419490" cy="419490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BDD903-A924-737A-05DF-BF8271819BF7}"/>
              </a:ext>
            </a:extLst>
          </p:cNvPr>
          <p:cNvCxnSpPr>
            <a:cxnSpLocks/>
          </p:cNvCxnSpPr>
          <p:nvPr/>
        </p:nvCxnSpPr>
        <p:spPr>
          <a:xfrm flipV="1">
            <a:off x="2274755" y="2839045"/>
            <a:ext cx="296361" cy="46562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F4CB60-0FFE-EEA8-0DB6-4E3405178948}"/>
              </a:ext>
            </a:extLst>
          </p:cNvPr>
          <p:cNvCxnSpPr>
            <a:cxnSpLocks/>
          </p:cNvCxnSpPr>
          <p:nvPr/>
        </p:nvCxnSpPr>
        <p:spPr>
          <a:xfrm flipV="1">
            <a:off x="2274755" y="3419800"/>
            <a:ext cx="296361" cy="46562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139D8D6-3EF9-CC2F-D95E-517468642EDF}"/>
              </a:ext>
            </a:extLst>
          </p:cNvPr>
          <p:cNvCxnSpPr>
            <a:cxnSpLocks/>
          </p:cNvCxnSpPr>
          <p:nvPr/>
        </p:nvCxnSpPr>
        <p:spPr>
          <a:xfrm flipV="1">
            <a:off x="2257338" y="3118138"/>
            <a:ext cx="296361" cy="46562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F2894D3-3319-6AB1-AC8A-122F20AA8220}"/>
              </a:ext>
            </a:extLst>
          </p:cNvPr>
          <p:cNvCxnSpPr>
            <a:cxnSpLocks/>
          </p:cNvCxnSpPr>
          <p:nvPr/>
        </p:nvCxnSpPr>
        <p:spPr>
          <a:xfrm>
            <a:off x="2284744" y="2893222"/>
            <a:ext cx="286298" cy="63326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2BF389A-3450-55F4-1859-0FD642ECA537}"/>
              </a:ext>
            </a:extLst>
          </p:cNvPr>
          <p:cNvCxnSpPr>
            <a:cxnSpLocks/>
          </p:cNvCxnSpPr>
          <p:nvPr/>
        </p:nvCxnSpPr>
        <p:spPr>
          <a:xfrm>
            <a:off x="2267400" y="3177062"/>
            <a:ext cx="286298" cy="63326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AF51A20-DB1F-33D8-D16A-D74947D5D650}"/>
              </a:ext>
            </a:extLst>
          </p:cNvPr>
          <p:cNvCxnSpPr>
            <a:cxnSpLocks/>
          </p:cNvCxnSpPr>
          <p:nvPr/>
        </p:nvCxnSpPr>
        <p:spPr>
          <a:xfrm>
            <a:off x="2279750" y="3483045"/>
            <a:ext cx="286298" cy="63326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E5F7FCA-10DF-37D6-507A-4A32AEF3DBB6}"/>
              </a:ext>
            </a:extLst>
          </p:cNvPr>
          <p:cNvSpPr txBox="1"/>
          <p:nvPr/>
        </p:nvSpPr>
        <p:spPr>
          <a:xfrm>
            <a:off x="2495350" y="2669688"/>
            <a:ext cx="3688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200" b="1" i="0" dirty="0">
                <a:solidFill>
                  <a:srgbClr val="1F1F1F"/>
                </a:solidFill>
                <a:effectLst/>
              </a:rPr>
              <a:t>π</a:t>
            </a:r>
            <a:endParaRPr lang="en-AU" sz="22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69FA4B-8C8D-3381-16B6-BFD33EF3C635}"/>
              </a:ext>
            </a:extLst>
          </p:cNvPr>
          <p:cNvSpPr txBox="1"/>
          <p:nvPr/>
        </p:nvSpPr>
        <p:spPr>
          <a:xfrm>
            <a:off x="2495350" y="2924885"/>
            <a:ext cx="2401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200" b="1" i="0" dirty="0">
                <a:effectLst/>
              </a:rPr>
              <a:t>μ</a:t>
            </a:r>
            <a:endParaRPr lang="en-AU" sz="2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29EFC5-88AF-8A12-F64A-E314E6009FB4}"/>
              </a:ext>
            </a:extLst>
          </p:cNvPr>
          <p:cNvSpPr txBox="1"/>
          <p:nvPr/>
        </p:nvSpPr>
        <p:spPr>
          <a:xfrm>
            <a:off x="2496764" y="3243065"/>
            <a:ext cx="3935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200" b="1" i="0" dirty="0">
                <a:effectLst/>
              </a:rPr>
              <a:t>σ</a:t>
            </a:r>
            <a:endParaRPr lang="en-AU" sz="2200" b="1" dirty="0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7322ED57-C668-51EB-C17F-1E76A29051FE}"/>
              </a:ext>
            </a:extLst>
          </p:cNvPr>
          <p:cNvSpPr/>
          <p:nvPr/>
        </p:nvSpPr>
        <p:spPr>
          <a:xfrm rot="5400000">
            <a:off x="2272460" y="2411639"/>
            <a:ext cx="370191" cy="28984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FB869DE8-8B2D-DE72-FEBF-7EB137BC9A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27484" y="2834308"/>
            <a:ext cx="199832" cy="109907"/>
          </a:xfrm>
          <a:prstGeom prst="rect">
            <a:avLst/>
          </a:prstGeom>
        </p:spPr>
      </p:pic>
      <p:sp>
        <p:nvSpPr>
          <p:cNvPr id="70" name="Arrow: Right 69">
            <a:extLst>
              <a:ext uri="{FF2B5EF4-FFF2-40B4-BE49-F238E27FC236}">
                <a16:creationId xmlns:a16="http://schemas.microsoft.com/office/drawing/2014/main" id="{1ACCA68F-CBCB-09E6-404A-A0A8B3F4408E}"/>
              </a:ext>
            </a:extLst>
          </p:cNvPr>
          <p:cNvSpPr/>
          <p:nvPr/>
        </p:nvSpPr>
        <p:spPr>
          <a:xfrm>
            <a:off x="2779361" y="3085307"/>
            <a:ext cx="274322" cy="21478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BE7887-034C-B885-05A7-5DE54FA685E9}"/>
              </a:ext>
            </a:extLst>
          </p:cNvPr>
          <p:cNvSpPr txBox="1"/>
          <p:nvPr/>
        </p:nvSpPr>
        <p:spPr>
          <a:xfrm>
            <a:off x="2771775" y="2555719"/>
            <a:ext cx="1750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GMM Action Space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ABAC0-2CD8-E540-7C5F-03A6FC83D88D}"/>
              </a:ext>
            </a:extLst>
          </p:cNvPr>
          <p:cNvSpPr txBox="1"/>
          <p:nvPr/>
        </p:nvSpPr>
        <p:spPr>
          <a:xfrm>
            <a:off x="4498903" y="2662617"/>
            <a:ext cx="22383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action space for a leaf node is generated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4C44B9E-1048-B5D1-3EF9-FE9BCDDF0920}"/>
              </a:ext>
            </a:extLst>
          </p:cNvPr>
          <p:cNvCxnSpPr>
            <a:cxnSpLocks/>
            <a:endCxn id="75" idx="7"/>
          </p:cNvCxnSpPr>
          <p:nvPr/>
        </p:nvCxnSpPr>
        <p:spPr>
          <a:xfrm flipH="1">
            <a:off x="2761799" y="3686888"/>
            <a:ext cx="667201" cy="459115"/>
          </a:xfrm>
          <a:prstGeom prst="straightConnector1">
            <a:avLst/>
          </a:prstGeom>
          <a:ln w="635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54051570-B521-58AD-E31A-834A34E814AF}"/>
              </a:ext>
            </a:extLst>
          </p:cNvPr>
          <p:cNvSpPr/>
          <p:nvPr/>
        </p:nvSpPr>
        <p:spPr>
          <a:xfrm>
            <a:off x="2221147" y="4053242"/>
            <a:ext cx="633413" cy="633413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96814098-A176-57C8-E5BE-F9ED13AB9E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25060" y="1923798"/>
            <a:ext cx="386496" cy="21257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126658BE-C529-3C12-9143-1E9078B81F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95416" y="4105575"/>
            <a:ext cx="292297" cy="521960"/>
          </a:xfrm>
          <a:prstGeom prst="rect">
            <a:avLst/>
          </a:prstGeom>
        </p:spPr>
      </p:pic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94E7FDD-535A-C7DC-A17F-A56D93DA58C3}"/>
              </a:ext>
            </a:extLst>
          </p:cNvPr>
          <p:cNvCxnSpPr>
            <a:cxnSpLocks/>
          </p:cNvCxnSpPr>
          <p:nvPr/>
        </p:nvCxnSpPr>
        <p:spPr>
          <a:xfrm flipH="1">
            <a:off x="3019759" y="4366555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DA4DC71-2C4D-CA0B-CCB3-69D2994A9326}"/>
              </a:ext>
            </a:extLst>
          </p:cNvPr>
          <p:cNvSpPr txBox="1"/>
          <p:nvPr/>
        </p:nvSpPr>
        <p:spPr>
          <a:xfrm>
            <a:off x="3426062" y="3850687"/>
            <a:ext cx="3398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Expansion: A new child node is sampled from the action space and added.</a:t>
            </a:r>
          </a:p>
        </p:txBody>
      </p: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47732408-CB59-5DBE-17E7-287D11EBD97F}"/>
              </a:ext>
            </a:extLst>
          </p:cNvPr>
          <p:cNvCxnSpPr>
            <a:cxnSpLocks/>
            <a:stCxn id="75" idx="4"/>
          </p:cNvCxnSpPr>
          <p:nvPr/>
        </p:nvCxnSpPr>
        <p:spPr>
          <a:xfrm rot="5400000">
            <a:off x="1976461" y="4698112"/>
            <a:ext cx="572851" cy="549936"/>
          </a:xfrm>
          <a:prstGeom prst="curvedConnector3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3477AEFD-A2B2-9C14-405C-4F6BE73F63EA}"/>
              </a:ext>
            </a:extLst>
          </p:cNvPr>
          <p:cNvSpPr/>
          <p:nvPr/>
        </p:nvSpPr>
        <p:spPr>
          <a:xfrm>
            <a:off x="1724517" y="5273884"/>
            <a:ext cx="526801" cy="526801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92B78A18-0365-7EB7-5C65-D376FEAAD5E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45042" y="5292934"/>
            <a:ext cx="277123" cy="461872"/>
          </a:xfrm>
          <a:prstGeom prst="rect">
            <a:avLst/>
          </a:prstGeom>
        </p:spPr>
      </p:pic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831FE2BB-3BFF-8A3D-1751-1FC8B9DA67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6081" y="5820764"/>
            <a:ext cx="878046" cy="866644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698F8ACB-E388-62FC-D8CD-67D1CC2492D0}"/>
              </a:ext>
            </a:extLst>
          </p:cNvPr>
          <p:cNvSpPr/>
          <p:nvPr/>
        </p:nvSpPr>
        <p:spPr>
          <a:xfrm>
            <a:off x="2585025" y="6693110"/>
            <a:ext cx="526801" cy="526801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1" name="Graphic 90">
            <a:extLst>
              <a:ext uri="{FF2B5EF4-FFF2-40B4-BE49-F238E27FC236}">
                <a16:creationId xmlns:a16="http://schemas.microsoft.com/office/drawing/2014/main" id="{10E102D6-3C4A-5DDB-5449-EAB03E7D328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48833" y="6730833"/>
            <a:ext cx="451355" cy="451355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81837923-A5D1-5485-936E-B5C7EE78A2B0}"/>
              </a:ext>
            </a:extLst>
          </p:cNvPr>
          <p:cNvSpPr txBox="1"/>
          <p:nvPr/>
        </p:nvSpPr>
        <p:spPr>
          <a:xfrm>
            <a:off x="2138257" y="5983017"/>
            <a:ext cx="51431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en-AU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42DD287-1F6E-4B88-A5E0-834BAD708F72}"/>
              </a:ext>
            </a:extLst>
          </p:cNvPr>
          <p:cNvCxnSpPr>
            <a:cxnSpLocks/>
          </p:cNvCxnSpPr>
          <p:nvPr/>
        </p:nvCxnSpPr>
        <p:spPr>
          <a:xfrm flipH="1">
            <a:off x="2989468" y="5826987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0E7D9C6-9F47-F823-89F4-788C02D96D9A}"/>
              </a:ext>
            </a:extLst>
          </p:cNvPr>
          <p:cNvSpPr txBox="1"/>
          <p:nvPr/>
        </p:nvSpPr>
        <p:spPr>
          <a:xfrm>
            <a:off x="3316156" y="5307231"/>
            <a:ext cx="3398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potential musical continuation is simulated using MDRNN predictions</a:t>
            </a:r>
          </a:p>
        </p:txBody>
      </p:sp>
      <p:sp>
        <p:nvSpPr>
          <p:cNvPr id="98" name="Arrow: Right 97">
            <a:extLst>
              <a:ext uri="{FF2B5EF4-FFF2-40B4-BE49-F238E27FC236}">
                <a16:creationId xmlns:a16="http://schemas.microsoft.com/office/drawing/2014/main" id="{C7E7F478-0C4C-7A94-90A0-AC3CCF22A794}"/>
              </a:ext>
            </a:extLst>
          </p:cNvPr>
          <p:cNvSpPr/>
          <p:nvPr/>
        </p:nvSpPr>
        <p:spPr>
          <a:xfrm rot="5400000">
            <a:off x="2354866" y="7264143"/>
            <a:ext cx="370191" cy="28984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9" name="Graphic 98">
            <a:extLst>
              <a:ext uri="{FF2B5EF4-FFF2-40B4-BE49-F238E27FC236}">
                <a16:creationId xmlns:a16="http://schemas.microsoft.com/office/drawing/2014/main" id="{D5437ACA-8CDC-563D-8326-4224298C2D7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26008" y="7854477"/>
            <a:ext cx="471242" cy="215007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EE3362C2-492C-5B83-8AA6-1D98E837C1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0030" y="7679743"/>
            <a:ext cx="534025" cy="534025"/>
          </a:xfrm>
          <a:prstGeom prst="rect">
            <a:avLst/>
          </a:prstGeom>
        </p:spPr>
      </p:pic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176A3DAC-C494-697A-4EF7-AE1C08767885}"/>
              </a:ext>
            </a:extLst>
          </p:cNvPr>
          <p:cNvSpPr/>
          <p:nvPr/>
        </p:nvSpPr>
        <p:spPr>
          <a:xfrm>
            <a:off x="1279462" y="7878332"/>
            <a:ext cx="213667" cy="1672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" name="Graphic 101">
            <a:extLst>
              <a:ext uri="{FF2B5EF4-FFF2-40B4-BE49-F238E27FC236}">
                <a16:creationId xmlns:a16="http://schemas.microsoft.com/office/drawing/2014/main" id="{A902387D-FD3B-8AA0-3AED-527ABD9C525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91280" y="7691808"/>
            <a:ext cx="292297" cy="521960"/>
          </a:xfrm>
          <a:prstGeom prst="rect">
            <a:avLst/>
          </a:prstGeom>
        </p:spPr>
      </p:pic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0ACB4140-8248-9F3B-5486-BC5DCE58BA59}"/>
              </a:ext>
            </a:extLst>
          </p:cNvPr>
          <p:cNvSpPr/>
          <p:nvPr/>
        </p:nvSpPr>
        <p:spPr>
          <a:xfrm>
            <a:off x="1869653" y="7882504"/>
            <a:ext cx="213667" cy="1672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BF9B8D93-759E-6E73-DD5A-6BE5674A993F}"/>
              </a:ext>
            </a:extLst>
          </p:cNvPr>
          <p:cNvSpPr/>
          <p:nvPr/>
        </p:nvSpPr>
        <p:spPr>
          <a:xfrm>
            <a:off x="2394798" y="7872937"/>
            <a:ext cx="213667" cy="1672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5" name="Graphic 104">
            <a:extLst>
              <a:ext uri="{FF2B5EF4-FFF2-40B4-BE49-F238E27FC236}">
                <a16:creationId xmlns:a16="http://schemas.microsoft.com/office/drawing/2014/main" id="{16912D66-CDF4-E523-66DB-0FC0C45C2A9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04820" y="7682618"/>
            <a:ext cx="324204" cy="540341"/>
          </a:xfrm>
          <a:prstGeom prst="rect">
            <a:avLst/>
          </a:prstGeom>
        </p:spPr>
      </p:pic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1C08D2A2-A5AF-EDD6-7EDB-6345E6AD1071}"/>
              </a:ext>
            </a:extLst>
          </p:cNvPr>
          <p:cNvSpPr/>
          <p:nvPr/>
        </p:nvSpPr>
        <p:spPr>
          <a:xfrm>
            <a:off x="2965304" y="7880937"/>
            <a:ext cx="213667" cy="1672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48DAED3-582C-72E1-1ACB-B3336A93BF8A}"/>
              </a:ext>
            </a:extLst>
          </p:cNvPr>
          <p:cNvSpPr/>
          <p:nvPr/>
        </p:nvSpPr>
        <p:spPr>
          <a:xfrm>
            <a:off x="645730" y="7626170"/>
            <a:ext cx="3398868" cy="70520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20F6967-CBBD-A301-7875-36DCEA1D0A66}"/>
              </a:ext>
            </a:extLst>
          </p:cNvPr>
          <p:cNvCxnSpPr>
            <a:cxnSpLocks/>
          </p:cNvCxnSpPr>
          <p:nvPr/>
        </p:nvCxnSpPr>
        <p:spPr>
          <a:xfrm flipH="1">
            <a:off x="4044598" y="7915906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FB326BE-757E-7E6D-37F5-98A9E7524E99}"/>
              </a:ext>
            </a:extLst>
          </p:cNvPr>
          <p:cNvSpPr txBox="1"/>
          <p:nvPr/>
        </p:nvSpPr>
        <p:spPr>
          <a:xfrm>
            <a:off x="4498903" y="7561963"/>
            <a:ext cx="24335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final simulated branch is extracted</a:t>
            </a:r>
          </a:p>
        </p:txBody>
      </p:sp>
      <p:sp>
        <p:nvSpPr>
          <p:cNvPr id="111" name="Arrow: Right 110">
            <a:extLst>
              <a:ext uri="{FF2B5EF4-FFF2-40B4-BE49-F238E27FC236}">
                <a16:creationId xmlns:a16="http://schemas.microsoft.com/office/drawing/2014/main" id="{71E0DF1D-095D-20B3-D57D-A7534E9E512C}"/>
              </a:ext>
            </a:extLst>
          </p:cNvPr>
          <p:cNvSpPr/>
          <p:nvPr/>
        </p:nvSpPr>
        <p:spPr>
          <a:xfrm>
            <a:off x="3523514" y="7872937"/>
            <a:ext cx="213667" cy="1672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2" name="Graphic 111">
            <a:extLst>
              <a:ext uri="{FF2B5EF4-FFF2-40B4-BE49-F238E27FC236}">
                <a16:creationId xmlns:a16="http://schemas.microsoft.com/office/drawing/2014/main" id="{4EDA7499-08AE-2F91-FF5D-74E200B3B4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77957" y="7700999"/>
            <a:ext cx="521960" cy="52196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35B55DDC-BD3D-8105-79AF-93FBE2B58E3E}"/>
              </a:ext>
            </a:extLst>
          </p:cNvPr>
          <p:cNvSpPr txBox="1"/>
          <p:nvPr/>
        </p:nvSpPr>
        <p:spPr>
          <a:xfrm>
            <a:off x="3087016" y="7652473"/>
            <a:ext cx="51431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AU" sz="2400" b="1" dirty="0"/>
              <a:t>…</a:t>
            </a:r>
          </a:p>
        </p:txBody>
      </p:sp>
      <p:pic>
        <p:nvPicPr>
          <p:cNvPr id="114" name="Graphic 113">
            <a:extLst>
              <a:ext uri="{FF2B5EF4-FFF2-40B4-BE49-F238E27FC236}">
                <a16:creationId xmlns:a16="http://schemas.microsoft.com/office/drawing/2014/main" id="{6D1046FA-AA57-032D-53F7-666A2A2128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46269" y="8817221"/>
            <a:ext cx="205151" cy="522203"/>
          </a:xfrm>
          <a:prstGeom prst="rect">
            <a:avLst/>
          </a:prstGeom>
        </p:spPr>
      </p:pic>
      <p:cxnSp>
        <p:nvCxnSpPr>
          <p:cNvPr id="117" name="Connector: Curved 116">
            <a:extLst>
              <a:ext uri="{FF2B5EF4-FFF2-40B4-BE49-F238E27FC236}">
                <a16:creationId xmlns:a16="http://schemas.microsoft.com/office/drawing/2014/main" id="{12DCD1CA-C889-02F5-0ACE-8688063616DE}"/>
              </a:ext>
            </a:extLst>
          </p:cNvPr>
          <p:cNvCxnSpPr>
            <a:cxnSpLocks/>
          </p:cNvCxnSpPr>
          <p:nvPr/>
        </p:nvCxnSpPr>
        <p:spPr>
          <a:xfrm rot="5400000">
            <a:off x="2052183" y="8425986"/>
            <a:ext cx="468774" cy="296626"/>
          </a:xfrm>
          <a:prstGeom prst="curvedConnector3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Curved 119">
            <a:extLst>
              <a:ext uri="{FF2B5EF4-FFF2-40B4-BE49-F238E27FC236}">
                <a16:creationId xmlns:a16="http://schemas.microsoft.com/office/drawing/2014/main" id="{DC3B4FCB-90A3-5AB2-7F74-10A13C6A2C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36218" y="8443355"/>
            <a:ext cx="557525" cy="350642"/>
          </a:xfrm>
          <a:prstGeom prst="curved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Graphic 123">
            <a:extLst>
              <a:ext uri="{FF2B5EF4-FFF2-40B4-BE49-F238E27FC236}">
                <a16:creationId xmlns:a16="http://schemas.microsoft.com/office/drawing/2014/main" id="{775453BB-327D-FAFA-7CB7-B06B1608438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650827" y="8770304"/>
            <a:ext cx="572294" cy="715366"/>
          </a:xfrm>
          <a:prstGeom prst="rect">
            <a:avLst/>
          </a:prstGeom>
        </p:spPr>
      </p:pic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BFC3FBE9-18B9-5272-177A-1877EBC0F7CF}"/>
              </a:ext>
            </a:extLst>
          </p:cNvPr>
          <p:cNvCxnSpPr>
            <a:cxnSpLocks/>
          </p:cNvCxnSpPr>
          <p:nvPr/>
        </p:nvCxnSpPr>
        <p:spPr>
          <a:xfrm rot="5400000">
            <a:off x="2171741" y="8555374"/>
            <a:ext cx="620106" cy="64029"/>
          </a:xfrm>
          <a:prstGeom prst="curved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718D89EE-79E2-AC52-CDD2-5C3B0D13EE20}"/>
              </a:ext>
            </a:extLst>
          </p:cNvPr>
          <p:cNvSpPr txBox="1"/>
          <p:nvPr/>
        </p:nvSpPr>
        <p:spPr>
          <a:xfrm>
            <a:off x="2231123" y="8776840"/>
            <a:ext cx="51431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AU" sz="2400" b="1" dirty="0"/>
              <a:t>…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75A20C04-F8AB-821F-6082-10B58C7465FF}"/>
              </a:ext>
            </a:extLst>
          </p:cNvPr>
          <p:cNvCxnSpPr>
            <a:cxnSpLocks/>
          </p:cNvCxnSpPr>
          <p:nvPr/>
        </p:nvCxnSpPr>
        <p:spPr>
          <a:xfrm flipH="1">
            <a:off x="3298253" y="8961480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5CE85491-11AA-2A66-224B-E4C6C6F88421}"/>
              </a:ext>
            </a:extLst>
          </p:cNvPr>
          <p:cNvSpPr txBox="1"/>
          <p:nvPr/>
        </p:nvSpPr>
        <p:spPr>
          <a:xfrm>
            <a:off x="3668902" y="8431591"/>
            <a:ext cx="31560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branch is assessed on how well it matches the prior musical context</a:t>
            </a:r>
          </a:p>
        </p:txBody>
      </p:sp>
      <p:cxnSp>
        <p:nvCxnSpPr>
          <p:cNvPr id="148" name="Connector: Curved 147">
            <a:extLst>
              <a:ext uri="{FF2B5EF4-FFF2-40B4-BE49-F238E27FC236}">
                <a16:creationId xmlns:a16="http://schemas.microsoft.com/office/drawing/2014/main" id="{4A57CA1F-371F-1C54-1CBB-DCF4CD4998FF}"/>
              </a:ext>
            </a:extLst>
          </p:cNvPr>
          <p:cNvCxnSpPr>
            <a:cxnSpLocks/>
          </p:cNvCxnSpPr>
          <p:nvPr/>
        </p:nvCxnSpPr>
        <p:spPr>
          <a:xfrm rot="5400000">
            <a:off x="2586836" y="9364542"/>
            <a:ext cx="430563" cy="228809"/>
          </a:xfrm>
          <a:prstGeom prst="curvedConnector3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4BCADFE1-1AAB-2E0D-11E6-D123F914583B}"/>
              </a:ext>
            </a:extLst>
          </p:cNvPr>
          <p:cNvCxnSpPr>
            <a:cxnSpLocks/>
          </p:cNvCxnSpPr>
          <p:nvPr/>
        </p:nvCxnSpPr>
        <p:spPr>
          <a:xfrm rot="5400000">
            <a:off x="2245415" y="9465853"/>
            <a:ext cx="469969" cy="12700"/>
          </a:xfrm>
          <a:prstGeom prst="curved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Curved 149">
            <a:extLst>
              <a:ext uri="{FF2B5EF4-FFF2-40B4-BE49-F238E27FC236}">
                <a16:creationId xmlns:a16="http://schemas.microsoft.com/office/drawing/2014/main" id="{92CDDB28-1BD1-ADA8-8ED8-2F4D305972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37689" y="9463771"/>
            <a:ext cx="352881" cy="121256"/>
          </a:xfrm>
          <a:prstGeom prst="curved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6B953683-E9C6-3FA5-319D-7748654A59F8}"/>
              </a:ext>
            </a:extLst>
          </p:cNvPr>
          <p:cNvSpPr txBox="1"/>
          <p:nvPr/>
        </p:nvSpPr>
        <p:spPr>
          <a:xfrm>
            <a:off x="2138257" y="9635866"/>
            <a:ext cx="69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0.64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CA5CDBA-052C-538B-2A45-8EA7CCA22BF8}"/>
              </a:ext>
            </a:extLst>
          </p:cNvPr>
          <p:cNvCxnSpPr>
            <a:cxnSpLocks/>
          </p:cNvCxnSpPr>
          <p:nvPr/>
        </p:nvCxnSpPr>
        <p:spPr>
          <a:xfrm flipH="1">
            <a:off x="2747007" y="9809694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BFB137F6-CF04-2E70-F09F-6CD46D85DCD9}"/>
              </a:ext>
            </a:extLst>
          </p:cNvPr>
          <p:cNvSpPr txBox="1"/>
          <p:nvPr/>
        </p:nvSpPr>
        <p:spPr>
          <a:xfrm>
            <a:off x="3171313" y="9471515"/>
            <a:ext cx="3688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This assessment is combined into a single heuristic score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51B6C96E-0433-6469-348F-B459D02F8B72}"/>
              </a:ext>
            </a:extLst>
          </p:cNvPr>
          <p:cNvCxnSpPr>
            <a:cxnSpLocks/>
          </p:cNvCxnSpPr>
          <p:nvPr/>
        </p:nvCxnSpPr>
        <p:spPr>
          <a:xfrm>
            <a:off x="2466769" y="9949194"/>
            <a:ext cx="795" cy="428520"/>
          </a:xfrm>
          <a:prstGeom prst="straightConnector1">
            <a:avLst/>
          </a:prstGeom>
          <a:ln w="127000">
            <a:solidFill>
              <a:schemeClr val="tx2">
                <a:lumMod val="75000"/>
                <a:lumOff val="2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417D3A5F-E858-302A-749E-1343CB1D95FB}"/>
              </a:ext>
            </a:extLst>
          </p:cNvPr>
          <p:cNvSpPr txBox="1"/>
          <p:nvPr/>
        </p:nvSpPr>
        <p:spPr>
          <a:xfrm>
            <a:off x="163035" y="10298251"/>
            <a:ext cx="5652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heuristic score is backpropagated up the tree, updating visit counts and UCT scores </a:t>
            </a:r>
          </a:p>
        </p:txBody>
      </p:sp>
      <p:pic>
        <p:nvPicPr>
          <p:cNvPr id="162" name="Graphic 161">
            <a:extLst>
              <a:ext uri="{FF2B5EF4-FFF2-40B4-BE49-F238E27FC236}">
                <a16:creationId xmlns:a16="http://schemas.microsoft.com/office/drawing/2014/main" id="{2347C463-6715-849F-6B0D-561C61A58A1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089836" y="2786898"/>
            <a:ext cx="224301" cy="40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4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</TotalTime>
  <Words>110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Howsam</dc:creator>
  <cp:lastModifiedBy>Scott Howsam</cp:lastModifiedBy>
  <cp:revision>2</cp:revision>
  <dcterms:created xsi:type="dcterms:W3CDTF">2025-05-22T01:22:47Z</dcterms:created>
  <dcterms:modified xsi:type="dcterms:W3CDTF">2025-05-22T06:46:23Z</dcterms:modified>
</cp:coreProperties>
</file>